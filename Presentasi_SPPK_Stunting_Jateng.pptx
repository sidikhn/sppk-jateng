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(COVER):</a:t>
            </a:r>
          </a:p>
          <a:p>
            <a:r>
              <a:t>Selamat pagi/siang Bapak/Ibu dosen penguji dan pembimbing. Terima kasih atas kesempatan yang diberikan. Pada kesempatan kali ini, saya akan mempresentasikan penelitian dan rancang bangun Sistem Pendukung Keputusan Penentuan Prioritas Intervensi Penanganan Stunting di Wilayah Jawa Tengah dengan mengintegrasikan metode AHP (Analytic Hierarchy Process) dan TOPSIS berbasis web. Fokus utama sistem ini adalah menghadirkan rekomendasi alokasi intervensi stunting yang objektif, multi-kriteria, dan dapat dipertanggungjawabkan secara matematis.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(LATAR BELAKANG):</a:t>
            </a:r>
          </a:p>
          <a:p>
            <a:r>
              <a:t>Latar belakang penelitian ini berpijak pada 3 poin krusial. Pertama, stunting adalah agenda nasional sesuai Perpres 72/2021. Kedua, di Jawa Tengah terdapat 35 Kabupaten/Kota dengan disparitas tajam. Prevalensi stunting terendah ada di angka 8.9% di Kota Semarang, namun di daerah Brebes mencapai 23.5%. Ketiga, keterbatasan anggaran menuntut pemerintah menetapkan prioritas intervensi. Namun selama ini, penentuan prioritas kerap dilakukan secara parsial hanya melihat 1 indikator saja atau dipengaruhi subjektivitas birokrasi. Oleh karena itu, diperlukan Sistem Pendukung Keputusan yang objektif, saintifik, dan transparan.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(RUMUSAN &amp; TUJUAN):</a:t>
            </a:r>
          </a:p>
          <a:p>
            <a:r>
              <a:t>Bapak/Ibu dosen, rumusan masalah kami bagi menjadi 3 pilar: pembobotan kriteria, pemeringkatan 35 wilayah, dan implementasi sistem web. Tujuan akhirnya adalah tidak hanya menyelesaikan formulasi matematis di atas kertas, tetapi juga menyediakan sistem operasional yang dapat langsung dipakai dinas kesehatan untuk simulasi bobot, melihat detail perhitungan matriks, hingga mencetak laporan resmi.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(JUSTIFIKASI METODE):</a:t>
            </a:r>
          </a:p>
          <a:p>
            <a:r>
              <a:t>Ini adalah pertanyaan yang sering ditanyakan dosen penguji: 'Kenapa harus gabungan AHP dan TOPSIS? Kenapa tidak AHP saja?'. Jawabannya sangat fundamental secara komputasi. AHP sangat kuat untuk pembobotan kriteria berpasangan karena ada uji konsistensi CR. Tetapi jika kita menggunakan AHP untuk merangking 35 Kabupaten/Kota, maka kita harus membandingkan 35 alternatif berpasangan. Rumusnya n kali n minus 1 dibagi 2, yaitu 595 perbandingan per kriteria. Dengan 6 kriteria, pakar harus mengisi 3.570 sel matriks! Secara psikologis dan komputasi, itu hampir mustahil konsisten. Oleh karena itu, kombinasi hybrid adalah pilihan paling tepat: AHP hanya membobotkan 6 kriteria (15 perbandingan), lalu bobot tersebut diumpankan ke TOPSIS untuk merangking 35 daerah menggunakan konsep jarak solusi ideal.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(KRITERIA &amp; BENEFIT/COST):</a:t>
            </a:r>
          </a:p>
          <a:p>
            <a:r>
              <a:t>Bapak/Ibu dosen, kami menetapkan 6 kriteria yang mencakup indikator spesifik dan sensitif stunting. Poin penting yang sering diuji adalah klasifikasi Benefit versus Cost: C1, C2, C3 diklasifikasikan sebagai BENEFIT, karena dalam konteks SPPK penetapan prioritas penanganan, semakin tinggi prevalensi stunting, jumlah balita terdampak, dan angka kemiskinan, maka daerah tersebut semakin layak mendapatkan intervensi prioritas. Sebaliknya, C4 (Sanitasi), C5 (Air Minum), dan C6 (Tenaga Kesehatan) diklasifikasikan sebagai COST, karena jika akses air, sanitasi, dan jumlah nakes di suatu daerah sangat rendah, daerah tersebut justru sangat darurat dan harus diprioritaskan.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(TAHAP AHP &amp; KONSISTENSI):</a:t>
            </a:r>
          </a:p>
          <a:p>
            <a:r>
              <a:t>Pada tahap pembobotan AHP, kita menggunakan matriks 6x6 skala Saaty. Hasil normalisasi matriks dan vektor eigen menghasilkan bobot terbesar pada C1 (Prevalensi Stunting) sebesar 37.46%, disusul C2 (Balita Stunting) 24.24%, dan C3 (Kemiskinan) 15.08%. Yang terpenting untuk dipaparkan kepada dosen adalah Uji Konsistensi: Lambda Max kami peroleh 6.0660, CI sebesar 0.0132, dan dengan RI untuk n=6 adalah 1.24, diperoleh Rasio Konsistensi (CR) sebesar 0.0106 atau 1.06%. Karena CR jauh lebih kecil dari 0.10 (10%), maka struktur pertimbangan pakar terbukti valid dan konsisten secara logis.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(ALGORITMA TOPSIS):</a:t>
            </a:r>
          </a:p>
          <a:p>
            <a:r>
              <a:t>Setelah bobot AHP diperoleh, kita masuk ke algoritma TOPSIS yang terdiri dari 6 tahapan komputasi. Pertama, pembentukan matriks keputusan X 35 daerah kali 6 indikator. Kedua, normalisasi vektor R agar seluruh satuan yang berbeda (persen, jiwa, fasilitas) menjadi seragam tak berdimensi. Ketiga, pengalian dengan bobot AHP menghasilkan matriks terbobot Y. Keempat, penetapan Solusi Ideal Positif A+ dan Negatif A- yang disesuaikan dengan jenis benefit/cost. Kelima, kalkulasi jarak Euclidean D+ dan D-. Dan keenam, menghitung nilai preferensi relatif Vi = D minus per (D plus ditambah D minus). Daerah dengan skor Vi paling tinggi mengindikasikan kedekatan paling rapat dengan kondisi darurat stunting sehingga menjadi Prioritas 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(HASIL PERANGKINGAN):</a:t>
            </a:r>
          </a:p>
          <a:p>
            <a:r>
              <a:t>Berdasarkan komputasi 35 Kabupaten/Kota di Jawa Tengah tahun 2025: Kabupaten Brebes menempati Ranking 1 Prioritas dengan skor preferensi 0.9422, diikuti Pemalang (0.8055), Kebumen (0.7392), Tegal (0.7336), dan Wonosobo (0.6974). Temuan ini sangat sejalan dengan realitas lapangan: wilayah Pantura Barat dan Pegunungan Tengah Selatan memiliki beban ganda berupa kemiskinan yang tinggi dan tantangan sanitasi. Sebaliknya, kota-kota otonom seperti Surakarta dan Semarang berada di kategori Rendah karena infrastruktur dasar dan nakes yang telah mapan.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(FITUR APLIKASI):</a:t>
            </a:r>
          </a:p>
          <a:p>
            <a:r>
              <a:t>Nilai tambah dari sistem yang kami bangun adalah transparansi dan interaktivitas: Pertama, terdapat Dashboard dengan visualisasi Radar Chart yang memungkinkan pengambil keputusan membandingkan dua kabupaten secara head-to-head. Kedua, modul AHP yang interaktif, di mana pakar dapat mengubah perbandingan matriks dan langsung melihat apakah bobotnya masih konsisten (CR &lt; 0.1). Ketiga, transparansi penuh TOPSIS: dosen dan user dapat memeriksa tahapan matriks dari normalisasi R, Y, hingga A+ dan A-, sehingga sistem ini memenuhi prinsip Explainable AI / Transparent DSS, bukan black-box. Dan keempat, modul reporting instan ke PDF resmi dan file Excel.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(ANALISIS SENSITIVITAS):</a:t>
            </a:r>
          </a:p>
          <a:p>
            <a:r>
              <a:t>Untuk memastikan model ini valid secara ilmiah, kami melakukan analisis sensitivitas. Hasil pengujian menunjukkan bahwa ketika bobot salah satu kriteria digeser naik-turun 15%, posisi klaster wilayah Sangat Tinggi (Brebes, Pemalang, Kebumen) tidak berubah secara drastis. Ini membuktikan bahwa model SPPK ini robust, stabil, dan tidak rentan terhadap bias penilai tunggal. Selain itu, perpaduan intervensi spesifik kesehatan dan intervensi sensitif lingkungan terakomodasi secara harmonis.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(KESIMPULAN):</a:t>
            </a:r>
          </a:p>
          <a:p>
            <a:r>
              <a:t>Sebagai kesimpulan, penelitian ini membuktikan bahwa integrasi AHP dan TOPSIS mampu memecahkan permasalahan penentuan prioritas stunting secara akuntabel dan transparan. Hasil perangkingan ini dapat dimanfaatkan secara langsung oleh Bappeda dan Dinas Kesehatan Provinsi Jawa Tengah dalam mengunci alokasi anggaran intervensi gizi terpadu agar tepat sasaran dan terhindar dari pemborosan sumber daya. Untuk pengembangan masa depan, sistem dapat diperkaya dengan visualisasi spasial GIS.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SKRIP BICARA (PENUTUP &amp; Q&amp;A):</a:t>
            </a:r>
          </a:p>
          <a:p>
            <a:r>
              <a:t>Demikian presentasi dari saya mengenai Sistem Pendukung Keputusan Penanganan Stunting di Jawa Tengah. Saya siap menerima kritik, saran, serta pertanyaan dari Bapak/Ibu dosen penguji untuk penyempurnaan sistem ini. Terima kasih atas perhatiannya. Waktu dan tempat saya kembalikan kepada ketua sidang.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9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3657600"/>
          </a:xfrm>
          <a:prstGeom prst="rect">
            <a:avLst/>
          </a:prstGeom>
          <a:solidFill>
            <a:srgbClr val="0D94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554480"/>
            <a:ext cx="10241280" cy="4114800"/>
          </a:xfrm>
          <a:prstGeom prst="rect">
            <a:avLst/>
          </a:prstGeom>
          <a:noFill/>
        </p:spPr>
        <p:txBody>
          <a:bodyPr wrap="square">
            <a:spAutoFit/>
          </a:bodyPr>
          <a:lstStyle/>
          <a:p>
            <a:pPr>
              <a:spcAft>
                <a:spcPts val="800"/>
              </a:spcAft>
              <a:defRPr sz="1300" b="1">
                <a:solidFill>
                  <a:srgbClr val="06B6D4"/>
                </a:solidFill>
              </a:defRPr>
            </a:pPr>
            <a:r>
              <a:t>SISTEM PENDUKUNG KEPUTUSAN (SPPK)</a:t>
            </a:r>
          </a:p>
          <a:p>
            <a:pPr>
              <a:spcAft>
                <a:spcPts val="1200"/>
              </a:spcAft>
              <a:defRPr sz="3000" b="1">
                <a:solidFill>
                  <a:srgbClr val="FFFFFF"/>
                </a:solidFill>
              </a:defRPr>
            </a:pPr>
            <a:r>
              <a:t>Penentuan Prioritas Intervensi Penanganan Stunting</a:t>
            </a:r>
            <a:br/>
            <a:r>
              <a:t>di Provinsi Jawa Tengah</a:t>
            </a:r>
          </a:p>
          <a:p>
            <a:pPr>
              <a:spcAft>
                <a:spcPts val="2800"/>
              </a:spcAft>
              <a:defRPr sz="1600">
                <a:solidFill>
                  <a:srgbClr val="94A3B8"/>
                </a:solidFill>
              </a:defRPr>
            </a:pPr>
            <a:r>
              <a:t>Integrasi Metode Analytic Hierarchy Process (AHP) &amp; TOPSIS Berbasis Web</a:t>
            </a:r>
          </a:p>
          <a:p>
            <a:pPr>
              <a:defRPr sz="1200">
                <a:solidFill>
                  <a:srgbClr val="CBD5E1"/>
                </a:solidFill>
              </a:defRPr>
            </a:pPr>
            <a:r>
              <a:t>Disusun untuk Presentasi Akademik &amp; Ujian Sistem Pendukung Keputusan</a:t>
            </a:r>
            <a:br/>
            <a:r>
              <a:t>Program Pascasarjana Universitas Gadjah Mada (UGM)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PENDAHULUAN &amp; KONTEKS</a:t>
            </a:r>
          </a:p>
          <a:p>
            <a:pPr>
              <a:defRPr sz="2200" b="1">
                <a:solidFill>
                  <a:srgbClr val="0F172A"/>
                </a:solidFill>
              </a:defRPr>
            </a:pPr>
            <a:r>
              <a:t>Latar Belakang &amp; Urgensi Masalah</a:t>
            </a:r>
          </a:p>
          <a:p>
            <a:pPr>
              <a:defRPr sz="1100">
                <a:solidFill>
                  <a:srgbClr val="475569"/>
                </a:solidFill>
              </a:defRPr>
            </a:pPr>
            <a:r>
              <a:t>Mengapa penentuan prioritas stunting di Jawa Tengah krusial?</a:t>
            </a:r>
          </a:p>
        </p:txBody>
      </p:sp>
      <p:sp>
        <p:nvSpPr>
          <p:cNvPr id="3" name="Rounded Rectangle 2"/>
          <p:cNvSpPr/>
          <p:nvPr/>
        </p:nvSpPr>
        <p:spPr>
          <a:xfrm>
            <a:off x="731520" y="155448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2962656" cy="4114800"/>
          </a:xfrm>
          <a:prstGeom prst="rect">
            <a:avLst/>
          </a:prstGeom>
          <a:noFill/>
        </p:spPr>
        <p:txBody>
          <a:bodyPr wrap="square">
            <a:spAutoFit/>
          </a:bodyPr>
          <a:lstStyle/>
          <a:p>
            <a:pPr>
              <a:spcAft>
                <a:spcPts val="1000"/>
              </a:spcAft>
              <a:defRPr sz="1400" b="1">
                <a:solidFill>
                  <a:srgbClr val="E11D48"/>
                </a:solidFill>
              </a:defRPr>
            </a:pPr>
            <a:r>
              <a:t>1. Isu Strategis Nasional</a:t>
            </a:r>
          </a:p>
          <a:p>
            <a:pPr>
              <a:spcAft>
                <a:spcPts val="600"/>
              </a:spcAft>
              <a:defRPr sz="1100">
                <a:solidFill>
                  <a:srgbClr val="475569"/>
                </a:solidFill>
              </a:defRPr>
            </a:pPr>
            <a:r>
              <a:t>• Target Nasional: Penurunan stunting menuju angka di bawah 14% (Perpres No. 72/2021).</a:t>
            </a:r>
          </a:p>
          <a:p>
            <a:pPr>
              <a:spcAft>
                <a:spcPts val="600"/>
              </a:spcAft>
              <a:defRPr sz="1100">
                <a:solidFill>
                  <a:srgbClr val="475569"/>
                </a:solidFill>
              </a:defRPr>
            </a:pPr>
            <a:r>
              <a:t>• Stunting bukan hanya masalah tinggi badan, melainkan gangguan perkembangan kognitif permanen dan produktivitas masa depan.</a:t>
            </a:r>
          </a:p>
          <a:p>
            <a:pPr>
              <a:spcAft>
                <a:spcPts val="600"/>
              </a:spcAft>
              <a:defRPr sz="1100">
                <a:solidFill>
                  <a:srgbClr val="475569"/>
                </a:solidFill>
              </a:defRPr>
            </a:pPr>
            <a:r>
              <a:t>• Dibutuhkan akselerasi intervensi yang terarah, cepat, dan presisi tinggi.</a:t>
            </a:r>
          </a:p>
        </p:txBody>
      </p:sp>
      <p:sp>
        <p:nvSpPr>
          <p:cNvPr id="5" name="Rounded Rectangle 4"/>
          <p:cNvSpPr/>
          <p:nvPr/>
        </p:nvSpPr>
        <p:spPr>
          <a:xfrm>
            <a:off x="4416552" y="155448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99432" y="1737360"/>
            <a:ext cx="2962656" cy="4114800"/>
          </a:xfrm>
          <a:prstGeom prst="rect">
            <a:avLst/>
          </a:prstGeom>
          <a:noFill/>
        </p:spPr>
        <p:txBody>
          <a:bodyPr wrap="square">
            <a:spAutoFit/>
          </a:bodyPr>
          <a:lstStyle/>
          <a:p>
            <a:pPr>
              <a:spcAft>
                <a:spcPts val="1000"/>
              </a:spcAft>
              <a:defRPr sz="1400" b="1">
                <a:solidFill>
                  <a:srgbClr val="D97706"/>
                </a:solidFill>
              </a:defRPr>
            </a:pPr>
            <a:r>
              <a:t>2. Disparitas 35 Wilayah</a:t>
            </a:r>
          </a:p>
          <a:p>
            <a:pPr>
              <a:spcAft>
                <a:spcPts val="600"/>
              </a:spcAft>
              <a:defRPr sz="1100">
                <a:solidFill>
                  <a:srgbClr val="475569"/>
                </a:solidFill>
              </a:defRPr>
            </a:pPr>
            <a:r>
              <a:t>• Jawa Tengah memiliki 35 Kabupaten/Kota dengan kondisi geografis dan fiskal yang sangat heterogen.</a:t>
            </a:r>
          </a:p>
          <a:p>
            <a:pPr>
              <a:spcAft>
                <a:spcPts val="600"/>
              </a:spcAft>
              <a:defRPr sz="1100">
                <a:solidFill>
                  <a:srgbClr val="475569"/>
                </a:solidFill>
              </a:defRPr>
            </a:pPr>
            <a:r>
              <a:t>• Variasi indikator sangat tinggi: prevalensi stunting berkisar 8.9% hingga 23.5%, dengan disparitas kemiskinan dan nakes yang lebar.</a:t>
            </a:r>
          </a:p>
          <a:p>
            <a:pPr>
              <a:spcAft>
                <a:spcPts val="600"/>
              </a:spcAft>
              <a:defRPr sz="1100">
                <a:solidFill>
                  <a:srgbClr val="475569"/>
                </a:solidFill>
              </a:defRPr>
            </a:pPr>
            <a:r>
              <a:t>• Alokasi anggaran bantuan penanganan seringkali terbatas dan tidak merata jika tidak diatur kuadran prioritasnya.</a:t>
            </a:r>
          </a:p>
        </p:txBody>
      </p:sp>
      <p:sp>
        <p:nvSpPr>
          <p:cNvPr id="7" name="Rounded Rectangle 6"/>
          <p:cNvSpPr/>
          <p:nvPr/>
        </p:nvSpPr>
        <p:spPr>
          <a:xfrm>
            <a:off x="8101584" y="1554480"/>
            <a:ext cx="3328416" cy="4480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37360"/>
            <a:ext cx="2962656" cy="4114800"/>
          </a:xfrm>
          <a:prstGeom prst="rect">
            <a:avLst/>
          </a:prstGeom>
          <a:noFill/>
        </p:spPr>
        <p:txBody>
          <a:bodyPr wrap="square">
            <a:spAutoFit/>
          </a:bodyPr>
          <a:lstStyle/>
          <a:p>
            <a:pPr>
              <a:spcAft>
                <a:spcPts val="1000"/>
              </a:spcAft>
              <a:defRPr sz="1400" b="1">
                <a:solidFill>
                  <a:srgbClr val="0D9488"/>
                </a:solidFill>
              </a:defRPr>
            </a:pPr>
            <a:r>
              <a:t>3. Gap Keputusan Konvensional</a:t>
            </a:r>
          </a:p>
          <a:p>
            <a:pPr>
              <a:spcAft>
                <a:spcPts val="600"/>
              </a:spcAft>
              <a:defRPr sz="1100">
                <a:solidFill>
                  <a:srgbClr val="475569"/>
                </a:solidFill>
              </a:defRPr>
            </a:pPr>
            <a:r>
              <a:t>• Keputusan penentuan lokasi fokus (lokus) seringkali berbasis intuisi, parsial, atau lobi birokrasi semata.</a:t>
            </a:r>
          </a:p>
          <a:p>
            <a:pPr>
              <a:spcAft>
                <a:spcPts val="600"/>
              </a:spcAft>
              <a:defRPr sz="1100">
                <a:solidFill>
                  <a:srgbClr val="475569"/>
                </a:solidFill>
              </a:defRPr>
            </a:pPr>
            <a:r>
              <a:t>• Sulit memadukan kriteria yang sifatnya multi-dimensi (kesehatan balita, sanitasi, air bersih, daya dukung nakes).</a:t>
            </a:r>
          </a:p>
          <a:p>
            <a:pPr>
              <a:spcAft>
                <a:spcPts val="600"/>
              </a:spcAft>
              <a:defRPr sz="1100">
                <a:solidFill>
                  <a:srgbClr val="475569"/>
                </a:solidFill>
              </a:defRPr>
            </a:pPr>
            <a:r>
              <a:t>• Solusi: SPPK berbasis Multi-Criteria Decision Making (MCDM) untuk menjamin transparansi &amp; akuntabilitas.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FOKUS PENELITIAN</a:t>
            </a:r>
          </a:p>
          <a:p>
            <a:pPr>
              <a:defRPr sz="2200" b="1">
                <a:solidFill>
                  <a:srgbClr val="0F172A"/>
                </a:solidFill>
              </a:defRPr>
            </a:pPr>
            <a:r>
              <a:t>Rumusan Masalah &amp; Tujuan Sistem</a:t>
            </a:r>
          </a:p>
          <a:p>
            <a:pPr>
              <a:defRPr sz="1100">
                <a:solidFill>
                  <a:srgbClr val="475569"/>
                </a:solidFill>
              </a:defRPr>
            </a:pPr>
            <a:r>
              <a:t>Landasan perancangan model pengambilan keputusan multi-kriteria</a:t>
            </a:r>
          </a:p>
        </p:txBody>
      </p:sp>
      <p:sp>
        <p:nvSpPr>
          <p:cNvPr id="3" name="Rounded Rectangle 2"/>
          <p:cNvSpPr/>
          <p:nvPr/>
        </p:nvSpPr>
        <p:spPr>
          <a:xfrm>
            <a:off x="731520" y="155448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572000" cy="4206240"/>
          </a:xfrm>
          <a:prstGeom prst="rect">
            <a:avLst/>
          </a:prstGeom>
          <a:noFill/>
        </p:spPr>
        <p:txBody>
          <a:bodyPr wrap="square">
            <a:spAutoFit/>
          </a:bodyPr>
          <a:lstStyle/>
          <a:p>
            <a:pPr>
              <a:spcAft>
                <a:spcPts val="1400"/>
              </a:spcAft>
              <a:defRPr sz="1400" b="1">
                <a:solidFill>
                  <a:srgbClr val="E11D48"/>
                </a:solidFill>
              </a:defRPr>
            </a:pPr>
            <a:r>
              <a:t>RUMUSAN MASALAH</a:t>
            </a:r>
          </a:p>
          <a:p>
            <a:pPr>
              <a:spcAft>
                <a:spcPts val="1400"/>
              </a:spcAft>
              <a:defRPr sz="1200">
                <a:solidFill>
                  <a:srgbClr val="0F172A"/>
                </a:solidFill>
              </a:defRPr>
            </a:pPr>
            <a:r>
              <a:t>1. Bagaimana menyusun pembobotan antar-indikator stunting secara terstruktur dan teruji konsistensi logisnya?</a:t>
            </a:r>
          </a:p>
          <a:p>
            <a:pPr>
              <a:spcAft>
                <a:spcPts val="1400"/>
              </a:spcAft>
              <a:defRPr sz="1200">
                <a:solidFill>
                  <a:srgbClr val="0F172A"/>
                </a:solidFill>
              </a:defRPr>
            </a:pPr>
            <a:r>
              <a:t>2. Bagaimana melakukan pemeringkatan secara adil dan simultan terhadap 35 Kabupaten/Kota dengan indikator yang saling berlawanan (benefit vs cost)?</a:t>
            </a:r>
          </a:p>
          <a:p>
            <a:pPr>
              <a:spcAft>
                <a:spcPts val="1400"/>
              </a:spcAft>
              <a:defRPr sz="1200">
                <a:solidFill>
                  <a:srgbClr val="0F172A"/>
                </a:solidFill>
              </a:defRPr>
            </a:pPr>
            <a:r>
              <a:t>3. Bagaimana mengimplementasikan model matematis tersebut ke dalam platform web interaktif yang mudah digunakan oleh dinas kesehatan dan pengambil kebijakan?</a:t>
            </a:r>
          </a:p>
        </p:txBody>
      </p:sp>
      <p:sp>
        <p:nvSpPr>
          <p:cNvPr id="5" name="Rounded Rectangle 4"/>
          <p:cNvSpPr/>
          <p:nvPr/>
        </p:nvSpPr>
        <p:spPr>
          <a:xfrm>
            <a:off x="6217920" y="155448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572000" cy="4206240"/>
          </a:xfrm>
          <a:prstGeom prst="rect">
            <a:avLst/>
          </a:prstGeom>
          <a:noFill/>
        </p:spPr>
        <p:txBody>
          <a:bodyPr wrap="square">
            <a:spAutoFit/>
          </a:bodyPr>
          <a:lstStyle/>
          <a:p>
            <a:pPr>
              <a:spcAft>
                <a:spcPts val="1400"/>
              </a:spcAft>
              <a:defRPr sz="1400" b="1">
                <a:solidFill>
                  <a:srgbClr val="0D9488"/>
                </a:solidFill>
              </a:defRPr>
            </a:pPr>
            <a:r>
              <a:t>TUJUAN PENELITIAN / SISTEM</a:t>
            </a:r>
          </a:p>
          <a:p>
            <a:pPr>
              <a:spcAft>
                <a:spcPts val="1400"/>
              </a:spcAft>
              <a:defRPr sz="1200">
                <a:solidFill>
                  <a:srgbClr val="0F172A"/>
                </a:solidFill>
              </a:defRPr>
            </a:pPr>
            <a:r>
              <a:t>1. Menerapkan metode AHP untuk membobotkan kriteria kesehatan, demografi, dan lingkungan dengan validasi Rasio Konsistensi (CR &lt; 0.1).</a:t>
            </a:r>
          </a:p>
          <a:p>
            <a:pPr>
              <a:spcAft>
                <a:spcPts val="1400"/>
              </a:spcAft>
              <a:defRPr sz="1200">
                <a:solidFill>
                  <a:srgbClr val="0F172A"/>
                </a:solidFill>
              </a:defRPr>
            </a:pPr>
            <a:r>
              <a:t>2. Mengintegrasikan metode TOPSIS untuk merangking 35 alternatif Kabupaten/Kota berdasarkan jarak euclidean ke solusi ideal.</a:t>
            </a:r>
          </a:p>
          <a:p>
            <a:pPr>
              <a:spcAft>
                <a:spcPts val="1400"/>
              </a:spcAft>
              <a:defRPr sz="1200">
                <a:solidFill>
                  <a:srgbClr val="0F172A"/>
                </a:solidFill>
              </a:defRPr>
            </a:pPr>
            <a:r>
              <a:t>3. Mengembangkan sistem web SPPK interaktif lengkap dengan visualisasi radar komparasi, simulasi matriks pakar, serta ekspor laporan PDF dan Excel.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KAJIAN METODOLOGI</a:t>
            </a:r>
          </a:p>
          <a:p>
            <a:pPr>
              <a:defRPr sz="2200" b="1">
                <a:solidFill>
                  <a:srgbClr val="0F172A"/>
                </a:solidFill>
              </a:defRPr>
            </a:pPr>
            <a:r>
              <a:t>Mengapa Kombinasi AHP &amp; TOPSIS?</a:t>
            </a:r>
          </a:p>
          <a:p>
            <a:pPr>
              <a:defRPr sz="1100">
                <a:solidFill>
                  <a:srgbClr val="475569"/>
                </a:solidFill>
              </a:defRPr>
            </a:pPr>
            <a:r>
              <a:t>Justifikasi ilmiah penggabungan kedua metode Multi-Criteria Decision Making (MCDM)</a:t>
            </a:r>
          </a:p>
        </p:txBody>
      </p:sp>
      <p:sp>
        <p:nvSpPr>
          <p:cNvPr id="3" name="Rounded Rectangle 2"/>
          <p:cNvSpPr/>
          <p:nvPr/>
        </p:nvSpPr>
        <p:spPr>
          <a:xfrm>
            <a:off x="731520" y="1554480"/>
            <a:ext cx="3328416" cy="3657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2962656" cy="3291840"/>
          </a:xfrm>
          <a:prstGeom prst="rect">
            <a:avLst/>
          </a:prstGeom>
          <a:noFill/>
        </p:spPr>
        <p:txBody>
          <a:bodyPr wrap="square">
            <a:spAutoFit/>
          </a:bodyPr>
          <a:lstStyle/>
          <a:p>
            <a:pPr>
              <a:spcAft>
                <a:spcPts val="800"/>
              </a:spcAft>
              <a:defRPr sz="1400" b="1">
                <a:solidFill>
                  <a:srgbClr val="0D9488"/>
                </a:solidFill>
              </a:defRPr>
            </a:pPr>
            <a:r>
              <a:t>Peran AHP (Weighting)</a:t>
            </a:r>
          </a:p>
          <a:p>
            <a:pPr>
              <a:spcAft>
                <a:spcPts val="600"/>
              </a:spcAft>
              <a:defRPr sz="1100">
                <a:solidFill>
                  <a:srgbClr val="475569"/>
                </a:solidFill>
              </a:defRPr>
            </a:pPr>
            <a:r>
              <a:t>✓ Unggul dalam dekomposisi hierarki kriteria yang kompleks.</a:t>
            </a:r>
          </a:p>
          <a:p>
            <a:pPr>
              <a:spcAft>
                <a:spcPts val="600"/>
              </a:spcAft>
              <a:defRPr sz="1100">
                <a:solidFill>
                  <a:srgbClr val="475569"/>
                </a:solidFill>
              </a:defRPr>
            </a:pPr>
            <a:r>
              <a:t>✓ Menilai kepentingan kriteria melalui Pairwise Comparison (Skala Saaty 1-9).</a:t>
            </a:r>
          </a:p>
          <a:p>
            <a:pPr>
              <a:spcAft>
                <a:spcPts val="600"/>
              </a:spcAft>
              <a:defRPr sz="1100">
                <a:solidFill>
                  <a:srgbClr val="475569"/>
                </a:solidFill>
              </a:defRPr>
            </a:pPr>
            <a:r>
              <a:t>✓ Memiliki mekanisme Uji Konsistensi (CR &lt; 0.1) untuk memastikan rasionalitas pakar.</a:t>
            </a:r>
          </a:p>
        </p:txBody>
      </p:sp>
      <p:sp>
        <p:nvSpPr>
          <p:cNvPr id="5" name="Rounded Rectangle 4"/>
          <p:cNvSpPr/>
          <p:nvPr/>
        </p:nvSpPr>
        <p:spPr>
          <a:xfrm>
            <a:off x="4416552" y="1554480"/>
            <a:ext cx="3328416" cy="3657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99432" y="1737360"/>
            <a:ext cx="2962656" cy="3291840"/>
          </a:xfrm>
          <a:prstGeom prst="rect">
            <a:avLst/>
          </a:prstGeom>
          <a:noFill/>
        </p:spPr>
        <p:txBody>
          <a:bodyPr wrap="square">
            <a:spAutoFit/>
          </a:bodyPr>
          <a:lstStyle/>
          <a:p>
            <a:pPr>
              <a:spcAft>
                <a:spcPts val="800"/>
              </a:spcAft>
              <a:defRPr sz="1400" b="1">
                <a:solidFill>
                  <a:srgbClr val="E11D48"/>
                </a:solidFill>
              </a:defRPr>
            </a:pPr>
            <a:r>
              <a:t>Keterbatasan Pure AHP</a:t>
            </a:r>
          </a:p>
          <a:p>
            <a:pPr>
              <a:spcAft>
                <a:spcPts val="600"/>
              </a:spcAft>
              <a:defRPr sz="1100">
                <a:solidFill>
                  <a:srgbClr val="475569"/>
                </a:solidFill>
              </a:defRPr>
            </a:pPr>
            <a:r>
              <a:t>✗ Jika AHP murni digunakan merangking 35 Kabupaten/Kota:</a:t>
            </a:r>
          </a:p>
          <a:p>
            <a:pPr>
              <a:spcAft>
                <a:spcPts val="600"/>
              </a:spcAft>
              <a:defRPr sz="1100">
                <a:solidFill>
                  <a:srgbClr val="475569"/>
                </a:solidFill>
              </a:defRPr>
            </a:pPr>
            <a:r>
              <a:t>✗ Dibutuhkan n(n-1)/2 perbandingan: 35 x 34 / 2 = 595 perbandingan per kriteria!</a:t>
            </a:r>
          </a:p>
          <a:p>
            <a:pPr>
              <a:spcAft>
                <a:spcPts val="600"/>
              </a:spcAft>
              <a:defRPr sz="1100">
                <a:solidFill>
                  <a:srgbClr val="475569"/>
                </a:solidFill>
              </a:defRPr>
            </a:pPr>
            <a:r>
              <a:t>✗ Total 6 kriteria = 3.570 kali input perbandingan manual.</a:t>
            </a:r>
          </a:p>
          <a:p>
            <a:pPr>
              <a:spcAft>
                <a:spcPts val="600"/>
              </a:spcAft>
              <a:defRPr sz="1100">
                <a:solidFill>
                  <a:srgbClr val="475569"/>
                </a:solidFill>
              </a:defRPr>
            </a:pPr>
            <a:r>
              <a:t>✗ Sangat rentan inkonsistensi logis dan cognitive overload bagi penilai.</a:t>
            </a:r>
          </a:p>
        </p:txBody>
      </p:sp>
      <p:sp>
        <p:nvSpPr>
          <p:cNvPr id="7" name="Rounded Rectangle 6"/>
          <p:cNvSpPr/>
          <p:nvPr/>
        </p:nvSpPr>
        <p:spPr>
          <a:xfrm>
            <a:off x="8101584" y="1554480"/>
            <a:ext cx="3328416" cy="36576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37360"/>
            <a:ext cx="2962656" cy="3291840"/>
          </a:xfrm>
          <a:prstGeom prst="rect">
            <a:avLst/>
          </a:prstGeom>
          <a:noFill/>
        </p:spPr>
        <p:txBody>
          <a:bodyPr wrap="square">
            <a:spAutoFit/>
          </a:bodyPr>
          <a:lstStyle/>
          <a:p>
            <a:pPr>
              <a:spcAft>
                <a:spcPts val="800"/>
              </a:spcAft>
              <a:defRPr sz="1400" b="1">
                <a:solidFill>
                  <a:srgbClr val="06B6D4"/>
                </a:solidFill>
              </a:defRPr>
            </a:pPr>
            <a:r>
              <a:t>Peran TOPSIS (Ranking)</a:t>
            </a:r>
          </a:p>
          <a:p>
            <a:pPr>
              <a:spcAft>
                <a:spcPts val="600"/>
              </a:spcAft>
              <a:defRPr sz="1100">
                <a:solidFill>
                  <a:srgbClr val="475569"/>
                </a:solidFill>
              </a:defRPr>
            </a:pPr>
            <a:r>
              <a:t>★ Sangat efisien untuk perangkingan alternatif berjumlah besar (35 Kab/Kota).</a:t>
            </a:r>
          </a:p>
          <a:p>
            <a:pPr>
              <a:spcAft>
                <a:spcPts val="600"/>
              </a:spcAft>
              <a:defRPr sz="1100">
                <a:solidFill>
                  <a:srgbClr val="475569"/>
                </a:solidFill>
              </a:defRPr>
            </a:pPr>
            <a:r>
              <a:t>★ Menghitung jarak euclidean ke Solusi Ideal Positif (A+) &amp; Ideal Negatif (A-).</a:t>
            </a:r>
          </a:p>
          <a:p>
            <a:pPr>
              <a:spcAft>
                <a:spcPts val="600"/>
              </a:spcAft>
              <a:defRPr sz="1100">
                <a:solidFill>
                  <a:srgbClr val="475569"/>
                </a:solidFill>
              </a:defRPr>
            </a:pPr>
            <a:r>
              <a:t>★ Menghilangkan kebutuhan pairwise ratusan alternatif, cukup memasukkan nilai data riil.</a:t>
            </a:r>
          </a:p>
        </p:txBody>
      </p:sp>
      <p:sp>
        <p:nvSpPr>
          <p:cNvPr id="9" name="Rounded Rectangle 8"/>
          <p:cNvSpPr/>
          <p:nvPr/>
        </p:nvSpPr>
        <p:spPr>
          <a:xfrm>
            <a:off x="731520" y="5394960"/>
            <a:ext cx="10725912" cy="822960"/>
          </a:xfrm>
          <a:prstGeom prst="roundRect">
            <a:avLst/>
          </a:prstGeom>
          <a:solidFill>
            <a:srgbClr val="CCFBF1"/>
          </a:solidFill>
          <a:ln w="127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440680"/>
            <a:ext cx="10332720" cy="731520"/>
          </a:xfrm>
          <a:prstGeom prst="rect">
            <a:avLst/>
          </a:prstGeom>
          <a:noFill/>
        </p:spPr>
        <p:txBody>
          <a:bodyPr wrap="square">
            <a:spAutoFit/>
          </a:bodyPr>
          <a:lstStyle/>
          <a:p>
            <a:pPr>
              <a:defRPr sz="1200" b="1">
                <a:solidFill>
                  <a:srgbClr val="0F766E"/>
                </a:solidFill>
              </a:defRPr>
            </a:pPr>
            <a:r>
              <a:t>KESEIMPULAN HYBRID: AHP bertugas sebagai penentu bobot objektif pakar (Wj), dan TOPSIS bertugas sebagai mesin perankingan matematis 35 daerah secara instan dan bebas bias.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PARAMETER PENILAIAN</a:t>
            </a:r>
          </a:p>
          <a:p>
            <a:pPr>
              <a:defRPr sz="2200" b="1">
                <a:solidFill>
                  <a:srgbClr val="0F172A"/>
                </a:solidFill>
              </a:defRPr>
            </a:pPr>
            <a:r>
              <a:t>Kriteria &amp; Definisi Operasional</a:t>
            </a:r>
          </a:p>
          <a:p>
            <a:pPr>
              <a:defRPr sz="1100">
                <a:solidFill>
                  <a:srgbClr val="475569"/>
                </a:solidFill>
              </a:defRPr>
            </a:pPr>
            <a:r>
              <a:t>6 Indikator penentu prioritas intervensi penanganan stunting di Jawa Tengah</a:t>
            </a:r>
          </a:p>
        </p:txBody>
      </p:sp>
      <p:graphicFrame>
        <p:nvGraphicFramePr>
          <p:cNvPr id="3" name="Table 2"/>
          <p:cNvGraphicFramePr>
            <a:graphicFrameLocks noGrp="1"/>
          </p:cNvGraphicFramePr>
          <p:nvPr/>
        </p:nvGraphicFramePr>
        <p:xfrm>
          <a:off x="731520" y="1554480"/>
          <a:ext cx="10725912" cy="4480560"/>
        </p:xfrm>
        <a:graphic>
          <a:graphicData uri="http://schemas.openxmlformats.org/drawingml/2006/table">
            <a:tbl>
              <a:tblPr firstRow="1" bandRow="1">
                <a:tableStyleId>{5C22544A-7EE6-4342-B048-85BDC9FD1C3A}</a:tableStyleId>
              </a:tblPr>
              <a:tblGrid>
                <a:gridCol w="1005840"/>
                <a:gridCol w="2926080"/>
                <a:gridCol w="1280160"/>
                <a:gridCol w="1280160"/>
                <a:gridCol w="4233672"/>
              </a:tblGrid>
              <a:tr h="640080">
                <a:tc>
                  <a:txBody>
                    <a:bodyPr/>
                    <a:lstStyle/>
                    <a:p>
                      <a:pPr algn="ctr">
                        <a:defRPr sz="1100" b="1">
                          <a:solidFill>
                            <a:srgbClr val="FFFFFF"/>
                          </a:solidFill>
                        </a:defRPr>
                      </a:pPr>
                      <a:r>
                        <a:t>Kode</a:t>
                      </a:r>
                    </a:p>
                  </a:txBody>
                  <a:tcPr>
                    <a:solidFill>
                      <a:srgbClr val="0F766E"/>
                    </a:solidFill>
                  </a:tcPr>
                </a:tc>
                <a:tc>
                  <a:txBody>
                    <a:bodyPr/>
                    <a:lstStyle/>
                    <a:p>
                      <a:pPr algn="l">
                        <a:defRPr sz="1100" b="1">
                          <a:solidFill>
                            <a:srgbClr val="FFFFFF"/>
                          </a:solidFill>
                        </a:defRPr>
                      </a:pPr>
                      <a:r>
                        <a:t>Nama Indikator / Kriteria</a:t>
                      </a:r>
                    </a:p>
                  </a:txBody>
                  <a:tcPr>
                    <a:solidFill>
                      <a:srgbClr val="0F766E"/>
                    </a:solidFill>
                  </a:tcPr>
                </a:tc>
                <a:tc>
                  <a:txBody>
                    <a:bodyPr/>
                    <a:lstStyle/>
                    <a:p>
                      <a:pPr algn="ctr">
                        <a:defRPr sz="1100" b="1">
                          <a:solidFill>
                            <a:srgbClr val="FFFFFF"/>
                          </a:solidFill>
                        </a:defRPr>
                      </a:pPr>
                      <a:r>
                        <a:t>Sifat</a:t>
                      </a:r>
                    </a:p>
                  </a:txBody>
                  <a:tcPr>
                    <a:solidFill>
                      <a:srgbClr val="0F766E"/>
                    </a:solidFill>
                  </a:tcPr>
                </a:tc>
                <a:tc>
                  <a:txBody>
                    <a:bodyPr/>
                    <a:lstStyle/>
                    <a:p>
                      <a:pPr algn="ctr">
                        <a:defRPr sz="1100" b="1">
                          <a:solidFill>
                            <a:srgbClr val="FFFFFF"/>
                          </a:solidFill>
                        </a:defRPr>
                      </a:pPr>
                      <a:r>
                        <a:t>Bobot AHP</a:t>
                      </a:r>
                    </a:p>
                  </a:txBody>
                  <a:tcPr>
                    <a:solidFill>
                      <a:srgbClr val="0F766E"/>
                    </a:solidFill>
                  </a:tcPr>
                </a:tc>
                <a:tc>
                  <a:txBody>
                    <a:bodyPr/>
                    <a:lstStyle/>
                    <a:p>
                      <a:pPr algn="l">
                        <a:defRPr sz="1100" b="1">
                          <a:solidFill>
                            <a:srgbClr val="FFFFFF"/>
                          </a:solidFill>
                        </a:defRPr>
                      </a:pPr>
                      <a:r>
                        <a:t>Rasional Penentuan &amp; Logika SPPK</a:t>
                      </a:r>
                    </a:p>
                  </a:txBody>
                  <a:tcPr>
                    <a:solidFill>
                      <a:srgbClr val="0F766E"/>
                    </a:solidFill>
                  </a:tcPr>
                </a:tc>
              </a:tr>
              <a:tr h="640080">
                <a:tc>
                  <a:txBody>
                    <a:bodyPr/>
                    <a:lstStyle/>
                    <a:p>
                      <a:pPr algn="ctr">
                        <a:defRPr sz="1000" b="1">
                          <a:solidFill>
                            <a:srgbClr val="0D9488"/>
                          </a:solidFill>
                        </a:defRPr>
                      </a:pPr>
                      <a:r>
                        <a:t>C1</a:t>
                      </a:r>
                    </a:p>
                  </a:txBody>
                  <a:tcPr/>
                </a:tc>
                <a:tc>
                  <a:txBody>
                    <a:bodyPr/>
                    <a:lstStyle/>
                    <a:p>
                      <a:pPr>
                        <a:defRPr sz="1000">
                          <a:solidFill>
                            <a:srgbClr val="0F172A"/>
                          </a:solidFill>
                        </a:defRPr>
                      </a:pPr>
                      <a:r>
                        <a:t>Prevalensi Stunting (%)</a:t>
                      </a:r>
                    </a:p>
                  </a:txBody>
                  <a:tcPr/>
                </a:tc>
                <a:tc>
                  <a:txBody>
                    <a:bodyPr/>
                    <a:lstStyle/>
                    <a:p>
                      <a:pPr algn="ctr">
                        <a:defRPr sz="1000" b="1">
                          <a:solidFill>
                            <a:srgbClr val="10B981"/>
                          </a:solidFill>
                        </a:defRPr>
                      </a:pPr>
                      <a:r>
                        <a:t>Benefit</a:t>
                      </a:r>
                    </a:p>
                  </a:txBody>
                  <a:tcPr/>
                </a:tc>
                <a:tc>
                  <a:txBody>
                    <a:bodyPr/>
                    <a:lstStyle/>
                    <a:p>
                      <a:pPr algn="ctr">
                        <a:defRPr sz="1000" b="1">
                          <a:solidFill>
                            <a:srgbClr val="0F172A"/>
                          </a:solidFill>
                        </a:defRPr>
                      </a:pPr>
                      <a:r>
                        <a:t>37.46%</a:t>
                      </a:r>
                    </a:p>
                  </a:txBody>
                  <a:tcPr/>
                </a:tc>
                <a:tc>
                  <a:txBody>
                    <a:bodyPr/>
                    <a:lstStyle/>
                    <a:p>
                      <a:pPr>
                        <a:defRPr sz="1000">
                          <a:solidFill>
                            <a:srgbClr val="0F172A"/>
                          </a:solidFill>
                        </a:defRPr>
                      </a:pPr>
                      <a:r>
                        <a:t>Semakin tinggi persentase balita stunting di suatu daerah, semakin darurat intervensi.</a:t>
                      </a:r>
                    </a:p>
                  </a:txBody>
                  <a:tcPr/>
                </a:tc>
              </a:tr>
              <a:tr h="640080">
                <a:tc>
                  <a:txBody>
                    <a:bodyPr/>
                    <a:lstStyle/>
                    <a:p>
                      <a:pPr algn="ctr">
                        <a:defRPr sz="1000" b="1">
                          <a:solidFill>
                            <a:srgbClr val="0D9488"/>
                          </a:solidFill>
                        </a:defRPr>
                      </a:pPr>
                      <a:r>
                        <a:t>C2</a:t>
                      </a:r>
                    </a:p>
                  </a:txBody>
                  <a:tcPr/>
                </a:tc>
                <a:tc>
                  <a:txBody>
                    <a:bodyPr/>
                    <a:lstStyle/>
                    <a:p>
                      <a:pPr>
                        <a:defRPr sz="1000">
                          <a:solidFill>
                            <a:srgbClr val="0F172A"/>
                          </a:solidFill>
                        </a:defRPr>
                      </a:pPr>
                      <a:r>
                        <a:t>Jumlah Balita Stunting (Jiwa)</a:t>
                      </a:r>
                    </a:p>
                  </a:txBody>
                  <a:tcPr/>
                </a:tc>
                <a:tc>
                  <a:txBody>
                    <a:bodyPr/>
                    <a:lstStyle/>
                    <a:p>
                      <a:pPr algn="ctr">
                        <a:defRPr sz="1000" b="1">
                          <a:solidFill>
                            <a:srgbClr val="10B981"/>
                          </a:solidFill>
                        </a:defRPr>
                      </a:pPr>
                      <a:r>
                        <a:t>Benefit</a:t>
                      </a:r>
                    </a:p>
                  </a:txBody>
                  <a:tcPr/>
                </a:tc>
                <a:tc>
                  <a:txBody>
                    <a:bodyPr/>
                    <a:lstStyle/>
                    <a:p>
                      <a:pPr algn="ctr">
                        <a:defRPr sz="1000" b="1">
                          <a:solidFill>
                            <a:srgbClr val="0F172A"/>
                          </a:solidFill>
                        </a:defRPr>
                      </a:pPr>
                      <a:r>
                        <a:t>24.24%</a:t>
                      </a:r>
                    </a:p>
                  </a:txBody>
                  <a:tcPr/>
                </a:tc>
                <a:tc>
                  <a:txBody>
                    <a:bodyPr/>
                    <a:lstStyle/>
                    <a:p>
                      <a:pPr>
                        <a:defRPr sz="1000">
                          <a:solidFill>
                            <a:srgbClr val="0F172A"/>
                          </a:solidFill>
                        </a:defRPr>
                      </a:pPr>
                      <a:r>
                        <a:t>Semakin banyak jumlah absolut balita stunting, semakin masif beban beban populasi terdampak.</a:t>
                      </a:r>
                    </a:p>
                  </a:txBody>
                  <a:tcPr/>
                </a:tc>
              </a:tr>
              <a:tr h="640080">
                <a:tc>
                  <a:txBody>
                    <a:bodyPr/>
                    <a:lstStyle/>
                    <a:p>
                      <a:pPr algn="ctr">
                        <a:defRPr sz="1000" b="1">
                          <a:solidFill>
                            <a:srgbClr val="0D9488"/>
                          </a:solidFill>
                        </a:defRPr>
                      </a:pPr>
                      <a:r>
                        <a:t>C3</a:t>
                      </a:r>
                    </a:p>
                  </a:txBody>
                  <a:tcPr/>
                </a:tc>
                <a:tc>
                  <a:txBody>
                    <a:bodyPr/>
                    <a:lstStyle/>
                    <a:p>
                      <a:pPr>
                        <a:defRPr sz="1000">
                          <a:solidFill>
                            <a:srgbClr val="0F172A"/>
                          </a:solidFill>
                        </a:defRPr>
                      </a:pPr>
                      <a:r>
                        <a:t>Persentase Penduduk Miskin (%)</a:t>
                      </a:r>
                    </a:p>
                  </a:txBody>
                  <a:tcPr/>
                </a:tc>
                <a:tc>
                  <a:txBody>
                    <a:bodyPr/>
                    <a:lstStyle/>
                    <a:p>
                      <a:pPr algn="ctr">
                        <a:defRPr sz="1000" b="1">
                          <a:solidFill>
                            <a:srgbClr val="10B981"/>
                          </a:solidFill>
                        </a:defRPr>
                      </a:pPr>
                      <a:r>
                        <a:t>Benefit</a:t>
                      </a:r>
                    </a:p>
                  </a:txBody>
                  <a:tcPr/>
                </a:tc>
                <a:tc>
                  <a:txBody>
                    <a:bodyPr/>
                    <a:lstStyle/>
                    <a:p>
                      <a:pPr algn="ctr">
                        <a:defRPr sz="1000" b="1">
                          <a:solidFill>
                            <a:srgbClr val="0F172A"/>
                          </a:solidFill>
                        </a:defRPr>
                      </a:pPr>
                      <a:r>
                        <a:t>15.08%</a:t>
                      </a:r>
                    </a:p>
                  </a:txBody>
                  <a:tcPr/>
                </a:tc>
                <a:tc>
                  <a:txBody>
                    <a:bodyPr/>
                    <a:lstStyle/>
                    <a:p>
                      <a:pPr>
                        <a:defRPr sz="1000">
                          <a:solidFill>
                            <a:srgbClr val="0F172A"/>
                          </a:solidFill>
                        </a:defRPr>
                      </a:pPr>
                      <a:r>
                        <a:t>Semakin tinggi kemiskinan, semakin rentan ketahanan pangan dan kemampuan asupan gizi anak.</a:t>
                      </a:r>
                    </a:p>
                  </a:txBody>
                  <a:tcPr/>
                </a:tc>
              </a:tr>
              <a:tr h="640080">
                <a:tc>
                  <a:txBody>
                    <a:bodyPr/>
                    <a:lstStyle/>
                    <a:p>
                      <a:pPr algn="ctr">
                        <a:defRPr sz="1000" b="1">
                          <a:solidFill>
                            <a:srgbClr val="0D9488"/>
                          </a:solidFill>
                        </a:defRPr>
                      </a:pPr>
                      <a:r>
                        <a:t>C4</a:t>
                      </a:r>
                    </a:p>
                  </a:txBody>
                  <a:tcPr/>
                </a:tc>
                <a:tc>
                  <a:txBody>
                    <a:bodyPr/>
                    <a:lstStyle/>
                    <a:p>
                      <a:pPr>
                        <a:defRPr sz="1000">
                          <a:solidFill>
                            <a:srgbClr val="0F172A"/>
                          </a:solidFill>
                        </a:defRPr>
                      </a:pPr>
                      <a:r>
                        <a:t>Akses Sanitasi Layak (%)</a:t>
                      </a:r>
                    </a:p>
                  </a:txBody>
                  <a:tcPr/>
                </a:tc>
                <a:tc>
                  <a:txBody>
                    <a:bodyPr/>
                    <a:lstStyle/>
                    <a:p>
                      <a:pPr algn="ctr">
                        <a:defRPr sz="1000" b="1">
                          <a:solidFill>
                            <a:srgbClr val="E11D48"/>
                          </a:solidFill>
                        </a:defRPr>
                      </a:pPr>
                      <a:r>
                        <a:t>Cost</a:t>
                      </a:r>
                    </a:p>
                  </a:txBody>
                  <a:tcPr/>
                </a:tc>
                <a:tc>
                  <a:txBody>
                    <a:bodyPr/>
                    <a:lstStyle/>
                    <a:p>
                      <a:pPr algn="ctr">
                        <a:defRPr sz="1000" b="1">
                          <a:solidFill>
                            <a:srgbClr val="0F172A"/>
                          </a:solidFill>
                        </a:defRPr>
                      </a:pPr>
                      <a:r>
                        <a:t>8.89%</a:t>
                      </a:r>
                    </a:p>
                  </a:txBody>
                  <a:tcPr/>
                </a:tc>
                <a:tc>
                  <a:txBody>
                    <a:bodyPr/>
                    <a:lstStyle/>
                    <a:p>
                      <a:pPr>
                        <a:defRPr sz="1000">
                          <a:solidFill>
                            <a:srgbClr val="0F172A"/>
                          </a:solidFill>
                        </a:defRPr>
                      </a:pPr>
                      <a:r>
                        <a:t>Semakin rendah sanitasi layak, semakin tinggi risiko infeksi berulang pemicu gagal tumbuh.</a:t>
                      </a:r>
                    </a:p>
                  </a:txBody>
                  <a:tcPr/>
                </a:tc>
              </a:tr>
              <a:tr h="640080">
                <a:tc>
                  <a:txBody>
                    <a:bodyPr/>
                    <a:lstStyle/>
                    <a:p>
                      <a:pPr algn="ctr">
                        <a:defRPr sz="1000" b="1">
                          <a:solidFill>
                            <a:srgbClr val="0D9488"/>
                          </a:solidFill>
                        </a:defRPr>
                      </a:pPr>
                      <a:r>
                        <a:t>C5</a:t>
                      </a:r>
                    </a:p>
                  </a:txBody>
                  <a:tcPr/>
                </a:tc>
                <a:tc>
                  <a:txBody>
                    <a:bodyPr/>
                    <a:lstStyle/>
                    <a:p>
                      <a:pPr>
                        <a:defRPr sz="1000">
                          <a:solidFill>
                            <a:srgbClr val="0F172A"/>
                          </a:solidFill>
                        </a:defRPr>
                      </a:pPr>
                      <a:r>
                        <a:t>Akses Air Minum Layak (%)</a:t>
                      </a:r>
                    </a:p>
                  </a:txBody>
                  <a:tcPr/>
                </a:tc>
                <a:tc>
                  <a:txBody>
                    <a:bodyPr/>
                    <a:lstStyle/>
                    <a:p>
                      <a:pPr algn="ctr">
                        <a:defRPr sz="1000" b="1">
                          <a:solidFill>
                            <a:srgbClr val="E11D48"/>
                          </a:solidFill>
                        </a:defRPr>
                      </a:pPr>
                      <a:r>
                        <a:t>Cost</a:t>
                      </a:r>
                    </a:p>
                  </a:txBody>
                  <a:tcPr/>
                </a:tc>
                <a:tc>
                  <a:txBody>
                    <a:bodyPr/>
                    <a:lstStyle/>
                    <a:p>
                      <a:pPr algn="ctr">
                        <a:defRPr sz="1000" b="1">
                          <a:solidFill>
                            <a:srgbClr val="0F172A"/>
                          </a:solidFill>
                        </a:defRPr>
                      </a:pPr>
                      <a:r>
                        <a:t>8.89%</a:t>
                      </a:r>
                    </a:p>
                  </a:txBody>
                  <a:tcPr/>
                </a:tc>
                <a:tc>
                  <a:txBody>
                    <a:bodyPr/>
                    <a:lstStyle/>
                    <a:p>
                      <a:pPr>
                        <a:defRPr sz="1000">
                          <a:solidFill>
                            <a:srgbClr val="0F172A"/>
                          </a:solidFill>
                        </a:defRPr>
                      </a:pPr>
                      <a:r>
                        <a:t>Semakin rendah akses air minum sehat, semakin rentan sanitasi dan higienitas keluarga balita.</a:t>
                      </a:r>
                    </a:p>
                  </a:txBody>
                  <a:tcPr/>
                </a:tc>
              </a:tr>
              <a:tr h="640080">
                <a:tc>
                  <a:txBody>
                    <a:bodyPr/>
                    <a:lstStyle/>
                    <a:p>
                      <a:pPr algn="ctr">
                        <a:defRPr sz="1000" b="1">
                          <a:solidFill>
                            <a:srgbClr val="0D9488"/>
                          </a:solidFill>
                        </a:defRPr>
                      </a:pPr>
                      <a:r>
                        <a:t>C6</a:t>
                      </a:r>
                    </a:p>
                  </a:txBody>
                  <a:tcPr/>
                </a:tc>
                <a:tc>
                  <a:txBody>
                    <a:bodyPr/>
                    <a:lstStyle/>
                    <a:p>
                      <a:pPr>
                        <a:defRPr sz="1000">
                          <a:solidFill>
                            <a:srgbClr val="0F172A"/>
                          </a:solidFill>
                        </a:defRPr>
                      </a:pPr>
                      <a:r>
                        <a:t>Jumlah Tenaga Kesehatan (Jiwa)</a:t>
                      </a:r>
                    </a:p>
                  </a:txBody>
                  <a:tcPr/>
                </a:tc>
                <a:tc>
                  <a:txBody>
                    <a:bodyPr/>
                    <a:lstStyle/>
                    <a:p>
                      <a:pPr algn="ctr">
                        <a:defRPr sz="1000" b="1">
                          <a:solidFill>
                            <a:srgbClr val="E11D48"/>
                          </a:solidFill>
                        </a:defRPr>
                      </a:pPr>
                      <a:r>
                        <a:t>Cost</a:t>
                      </a:r>
                    </a:p>
                  </a:txBody>
                  <a:tcPr/>
                </a:tc>
                <a:tc>
                  <a:txBody>
                    <a:bodyPr/>
                    <a:lstStyle/>
                    <a:p>
                      <a:pPr algn="ctr">
                        <a:defRPr sz="1000" b="1">
                          <a:solidFill>
                            <a:srgbClr val="0F172A"/>
                          </a:solidFill>
                        </a:defRPr>
                      </a:pPr>
                      <a:r>
                        <a:t>5.44%</a:t>
                      </a:r>
                    </a:p>
                  </a:txBody>
                  <a:tcPr/>
                </a:tc>
                <a:tc>
                  <a:txBody>
                    <a:bodyPr/>
                    <a:lstStyle/>
                    <a:p>
                      <a:pPr>
                        <a:defRPr sz="1000">
                          <a:solidFill>
                            <a:srgbClr val="0F172A"/>
                          </a:solidFill>
                        </a:defRPr>
                      </a:pPr>
                      <a:r>
                        <a:t>Semakin sedikit ketersediaan tenaga kesehatan, semakin butuh dropping bantuan intervensi medis.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TAHAP 1: AHP</a:t>
            </a:r>
          </a:p>
          <a:p>
            <a:pPr>
              <a:defRPr sz="2200" b="1">
                <a:solidFill>
                  <a:srgbClr val="0F172A"/>
                </a:solidFill>
              </a:defRPr>
            </a:pPr>
            <a:r>
              <a:t>Penentuan Bobot Kriteria &amp; Uji Konsistensi Logis</a:t>
            </a:r>
          </a:p>
          <a:p>
            <a:pPr>
              <a:defRPr sz="1100">
                <a:solidFill>
                  <a:srgbClr val="475569"/>
                </a:solidFill>
              </a:defRPr>
            </a:pPr>
            <a:r>
              <a:t>Perbandingan berpasangan (Pairwise Comparison) skala Saaty 1-9</a:t>
            </a:r>
          </a:p>
        </p:txBody>
      </p:sp>
      <p:sp>
        <p:nvSpPr>
          <p:cNvPr id="3" name="Rounded Rectangle 2"/>
          <p:cNvSpPr/>
          <p:nvPr/>
        </p:nvSpPr>
        <p:spPr>
          <a:xfrm>
            <a:off x="731520" y="155448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4754880" cy="4297680"/>
          </a:xfrm>
          <a:prstGeom prst="rect">
            <a:avLst/>
          </a:prstGeom>
          <a:noFill/>
        </p:spPr>
        <p:txBody>
          <a:bodyPr wrap="square">
            <a:spAutoFit/>
          </a:bodyPr>
          <a:lstStyle/>
          <a:p>
            <a:pPr>
              <a:spcAft>
                <a:spcPts val="800"/>
              </a:spcAft>
              <a:defRPr sz="1300" b="1">
                <a:solidFill>
                  <a:srgbClr val="0D9488"/>
                </a:solidFill>
              </a:defRPr>
            </a:pPr>
            <a:r>
              <a:t>PENGUJIAN KONSISTENSI MATRIKS</a:t>
            </a:r>
          </a:p>
          <a:p>
            <a:pPr>
              <a:spcAft>
                <a:spcPts val="600"/>
              </a:spcAft>
              <a:defRPr sz="1100" b="1">
                <a:solidFill>
                  <a:srgbClr val="0F172A"/>
                </a:solidFill>
              </a:defRPr>
            </a:pPr>
            <a:r>
              <a:t>Ukuran Matriks (n): </a:t>
            </a:r>
            <a:r>
              <a:rPr b="0">
                <a:solidFill>
                  <a:srgbClr val="475569"/>
                </a:solidFill>
              </a:rPr>
              <a:t>6 x 6 Kriteria</a:t>
            </a:r>
          </a:p>
          <a:p>
            <a:pPr>
              <a:spcAft>
                <a:spcPts val="600"/>
              </a:spcAft>
              <a:defRPr sz="1100" b="1">
                <a:solidFill>
                  <a:srgbClr val="0F172A"/>
                </a:solidFill>
              </a:defRPr>
            </a:pPr>
            <a:r>
              <a:t>Lambda Max (λ max): </a:t>
            </a:r>
            <a:r>
              <a:rPr b="0">
                <a:solidFill>
                  <a:srgbClr val="475569"/>
                </a:solidFill>
              </a:rPr>
              <a:t>6.0660</a:t>
            </a:r>
          </a:p>
          <a:p>
            <a:pPr>
              <a:spcAft>
                <a:spcPts val="600"/>
              </a:spcAft>
              <a:defRPr sz="1100" b="1">
                <a:solidFill>
                  <a:srgbClr val="0F172A"/>
                </a:solidFill>
              </a:defRPr>
            </a:pPr>
            <a:r>
              <a:t>Consistency Index (CI): </a:t>
            </a:r>
            <a:r>
              <a:rPr b="0">
                <a:solidFill>
                  <a:srgbClr val="475569"/>
                </a:solidFill>
              </a:rPr>
              <a:t>0.0132  →  (λ max - n) / (n - 1)</a:t>
            </a:r>
          </a:p>
          <a:p>
            <a:pPr>
              <a:spcAft>
                <a:spcPts val="600"/>
              </a:spcAft>
              <a:defRPr sz="1100" b="1">
                <a:solidFill>
                  <a:srgbClr val="0F172A"/>
                </a:solidFill>
              </a:defRPr>
            </a:pPr>
            <a:r>
              <a:t>Random Index Saaty (RI): </a:t>
            </a:r>
            <a:r>
              <a:rPr b="0">
                <a:solidFill>
                  <a:srgbClr val="475569"/>
                </a:solidFill>
              </a:rPr>
              <a:t>1.24  (untuk matriks n = 6)</a:t>
            </a:r>
          </a:p>
          <a:p>
            <a:pPr>
              <a:spcAft>
                <a:spcPts val="600"/>
              </a:spcAft>
              <a:defRPr sz="1100" b="1">
                <a:solidFill>
                  <a:srgbClr val="0F172A"/>
                </a:solidFill>
              </a:defRPr>
            </a:pPr>
            <a:r>
              <a:t>Consistency Ratio (CR): </a:t>
            </a:r>
            <a:r>
              <a:rPr b="0">
                <a:solidFill>
                  <a:srgbClr val="475569"/>
                </a:solidFill>
              </a:rPr>
              <a:t>0.0106 (1.06%)</a:t>
            </a:r>
          </a:p>
          <a:p>
            <a:pPr>
              <a:spcAft>
                <a:spcPts val="600"/>
              </a:spcAft>
              <a:defRPr sz="1100" b="1">
                <a:solidFill>
                  <a:srgbClr val="0F172A"/>
                </a:solidFill>
              </a:defRPr>
            </a:pPr>
            <a:r>
              <a:t>Status Konsistensi: </a:t>
            </a:r>
            <a:r>
              <a:rPr b="1">
                <a:solidFill>
                  <a:srgbClr val="10B981"/>
                </a:solidFill>
              </a:rPr>
              <a:t>SANGAT KONSISTEN (CR &lt; 0.10 / 10%)</a:t>
            </a:r>
          </a:p>
          <a:p>
            <a:pPr>
              <a:spcAft>
                <a:spcPts val="400"/>
              </a:spcAft>
              <a:defRPr sz="1100" b="1">
                <a:solidFill>
                  <a:srgbClr val="0F172A"/>
                </a:solidFill>
              </a:defRPr>
            </a:pPr>
            <a:r>
              <a:t>Interpretasi Konsistensi:</a:t>
            </a:r>
          </a:p>
          <a:p>
            <a:pPr>
              <a:defRPr sz="1000">
                <a:solidFill>
                  <a:srgbClr val="475569"/>
                </a:solidFill>
              </a:defRPr>
            </a:pPr>
            <a:r>
              <a:t>Nilai CR sebesar 0.0106 berada jauh di bawah ambang batas toleransi Saaty (0.10). Hal ini membuktikan bahwa perbandingan antar kriteria oleh pakar bebas dari kontradiksi logis (transitive consistency terpenuhi).</a:t>
            </a:r>
          </a:p>
        </p:txBody>
      </p:sp>
      <p:sp>
        <p:nvSpPr>
          <p:cNvPr id="5" name="Rounded Rectangle 4"/>
          <p:cNvSpPr/>
          <p:nvPr/>
        </p:nvSpPr>
        <p:spPr>
          <a:xfrm>
            <a:off x="6217920" y="1554480"/>
            <a:ext cx="5239512"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0" y="1691640"/>
            <a:ext cx="4846320" cy="4297680"/>
          </a:xfrm>
          <a:prstGeom prst="rect">
            <a:avLst/>
          </a:prstGeom>
          <a:noFill/>
        </p:spPr>
        <p:txBody>
          <a:bodyPr wrap="square">
            <a:spAutoFit/>
          </a:bodyPr>
          <a:lstStyle/>
          <a:p>
            <a:pPr>
              <a:spcAft>
                <a:spcPts val="1000"/>
              </a:spcAft>
              <a:defRPr sz="1300" b="1">
                <a:solidFill>
                  <a:srgbClr val="0D9488"/>
                </a:solidFill>
              </a:defRPr>
            </a:pPr>
            <a:r>
              <a:t>DISTRIBUSI BOBOT HASIL EIGEN VECTOR</a:t>
            </a:r>
          </a:p>
          <a:p>
            <a:pPr>
              <a:spcAft>
                <a:spcPts val="100"/>
              </a:spcAft>
              <a:defRPr sz="1100" b="1">
                <a:solidFill>
                  <a:srgbClr val="0F172A"/>
                </a:solidFill>
              </a:defRPr>
            </a:pPr>
            <a:r>
              <a:t>C1 - Prevalensi Stunting: 37.46%</a:t>
            </a:r>
          </a:p>
          <a:p>
            <a:pPr>
              <a:spcAft>
                <a:spcPts val="600"/>
              </a:spcAft>
              <a:defRPr sz="950">
                <a:solidFill>
                  <a:srgbClr val="475569"/>
                </a:solidFill>
              </a:defRPr>
            </a:pPr>
            <a:r>
              <a:t>→ Prioritas Utama (Determinan Klinis Primer)</a:t>
            </a:r>
          </a:p>
          <a:p>
            <a:pPr>
              <a:spcAft>
                <a:spcPts val="100"/>
              </a:spcAft>
              <a:defRPr sz="1100" b="1">
                <a:solidFill>
                  <a:srgbClr val="0F172A"/>
                </a:solidFill>
              </a:defRPr>
            </a:pPr>
            <a:r>
              <a:t>C2 - Jumlah Balita Stunting: 24.24%</a:t>
            </a:r>
          </a:p>
          <a:p>
            <a:pPr>
              <a:spcAft>
                <a:spcPts val="600"/>
              </a:spcAft>
              <a:defRPr sz="950">
                <a:solidFill>
                  <a:srgbClr val="475569"/>
                </a:solidFill>
              </a:defRPr>
            </a:pPr>
            <a:r>
              <a:t>→ Prioritas Tinggi (Skala Populasi Terdampak)</a:t>
            </a:r>
          </a:p>
          <a:p>
            <a:pPr>
              <a:spcAft>
                <a:spcPts val="100"/>
              </a:spcAft>
              <a:defRPr sz="1100" b="1">
                <a:solidFill>
                  <a:srgbClr val="0F172A"/>
                </a:solidFill>
              </a:defRPr>
            </a:pPr>
            <a:r>
              <a:t>C3 - Persentase Kemiskinan: 15.08%</a:t>
            </a:r>
          </a:p>
          <a:p>
            <a:pPr>
              <a:spcAft>
                <a:spcPts val="600"/>
              </a:spcAft>
              <a:defRPr sz="950">
                <a:solidFill>
                  <a:srgbClr val="475569"/>
                </a:solidFill>
              </a:defRPr>
            </a:pPr>
            <a:r>
              <a:t>→ Determinan Sosial-Ekonomi</a:t>
            </a:r>
          </a:p>
          <a:p>
            <a:pPr>
              <a:spcAft>
                <a:spcPts val="100"/>
              </a:spcAft>
              <a:defRPr sz="1100" b="1">
                <a:solidFill>
                  <a:srgbClr val="0F172A"/>
                </a:solidFill>
              </a:defRPr>
            </a:pPr>
            <a:r>
              <a:t>C4 - Akses Sanitasi Layak: 8.89%</a:t>
            </a:r>
          </a:p>
          <a:p>
            <a:pPr>
              <a:spcAft>
                <a:spcPts val="600"/>
              </a:spcAft>
              <a:defRPr sz="950">
                <a:solidFill>
                  <a:srgbClr val="475569"/>
                </a:solidFill>
              </a:defRPr>
            </a:pPr>
            <a:r>
              <a:t>→ Faktor Lingkungan Fisik &amp; Higienitas</a:t>
            </a:r>
          </a:p>
          <a:p>
            <a:pPr>
              <a:spcAft>
                <a:spcPts val="100"/>
              </a:spcAft>
              <a:defRPr sz="1100" b="1">
                <a:solidFill>
                  <a:srgbClr val="0F172A"/>
                </a:solidFill>
              </a:defRPr>
            </a:pPr>
            <a:r>
              <a:t>C5 - Akses Air Minum Layak: 8.89%</a:t>
            </a:r>
          </a:p>
          <a:p>
            <a:pPr>
              <a:spcAft>
                <a:spcPts val="600"/>
              </a:spcAft>
              <a:defRPr sz="950">
                <a:solidFill>
                  <a:srgbClr val="475569"/>
                </a:solidFill>
              </a:defRPr>
            </a:pPr>
            <a:r>
              <a:t>→ Faktor Lingkungan Fisik &amp; Higienitas</a:t>
            </a:r>
          </a:p>
          <a:p>
            <a:pPr>
              <a:spcAft>
                <a:spcPts val="100"/>
              </a:spcAft>
              <a:defRPr sz="1100" b="1">
                <a:solidFill>
                  <a:srgbClr val="0F172A"/>
                </a:solidFill>
              </a:defRPr>
            </a:pPr>
            <a:r>
              <a:t>C6 - Jumlah Tenaga Kesehatan: 5.44%</a:t>
            </a:r>
          </a:p>
          <a:p>
            <a:pPr>
              <a:spcAft>
                <a:spcPts val="600"/>
              </a:spcAft>
              <a:defRPr sz="950">
                <a:solidFill>
                  <a:srgbClr val="475569"/>
                </a:solidFill>
              </a:defRPr>
            </a:pPr>
            <a:r>
              <a:t>→ Kapasitas Pelayanan Kesehatan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TAHAP 2: TOPSIS</a:t>
            </a:r>
          </a:p>
          <a:p>
            <a:pPr>
              <a:defRPr sz="2200" b="1">
                <a:solidFill>
                  <a:srgbClr val="0F172A"/>
                </a:solidFill>
              </a:defRPr>
            </a:pPr>
            <a:r>
              <a:t>Alur Algoritma Perangkingan TOPSIS</a:t>
            </a:r>
          </a:p>
          <a:p>
            <a:pPr>
              <a:defRPr sz="1100">
                <a:solidFill>
                  <a:srgbClr val="475569"/>
                </a:solidFill>
              </a:defRPr>
            </a:pPr>
            <a:r>
              <a:t>6 Langkah matematis dari Matriks Keputusan hingga Skor Preferensi Relatif (Vi)</a:t>
            </a:r>
          </a:p>
        </p:txBody>
      </p:sp>
      <p:sp>
        <p:nvSpPr>
          <p:cNvPr id="3" name="Rounded Rectangle 2"/>
          <p:cNvSpPr/>
          <p:nvPr/>
        </p:nvSpPr>
        <p:spPr>
          <a:xfrm>
            <a:off x="731520" y="155448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68680" y="1691640"/>
            <a:ext cx="3054096" cy="1828800"/>
          </a:xfrm>
          <a:prstGeom prst="rect">
            <a:avLst/>
          </a:prstGeom>
          <a:noFill/>
        </p:spPr>
        <p:txBody>
          <a:bodyPr wrap="square">
            <a:spAutoFit/>
          </a:bodyPr>
          <a:lstStyle/>
          <a:p>
            <a:pPr>
              <a:spcAft>
                <a:spcPts val="400"/>
              </a:spcAft>
              <a:defRPr sz="1200" b="1">
                <a:solidFill>
                  <a:srgbClr val="0D9488"/>
                </a:solidFill>
              </a:defRPr>
            </a:pPr>
            <a:r>
              <a:t>1. Matriks Keputusan (X)</a:t>
            </a:r>
          </a:p>
          <a:p>
            <a:pPr>
              <a:defRPr sz="950">
                <a:solidFill>
                  <a:srgbClr val="475569"/>
                </a:solidFill>
              </a:defRPr>
            </a:pPr>
            <a:r>
              <a:t>Membentuk matriks X berukuran 35 x 6 dari nilai riil indikator tahun evaluasi (Xij).</a:t>
            </a:r>
          </a:p>
        </p:txBody>
      </p:sp>
      <p:sp>
        <p:nvSpPr>
          <p:cNvPr id="5" name="Rounded Rectangle 4"/>
          <p:cNvSpPr/>
          <p:nvPr/>
        </p:nvSpPr>
        <p:spPr>
          <a:xfrm>
            <a:off x="4425696" y="155448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62856" y="1691640"/>
            <a:ext cx="3054096" cy="1828800"/>
          </a:xfrm>
          <a:prstGeom prst="rect">
            <a:avLst/>
          </a:prstGeom>
          <a:noFill/>
        </p:spPr>
        <p:txBody>
          <a:bodyPr wrap="square">
            <a:spAutoFit/>
          </a:bodyPr>
          <a:lstStyle/>
          <a:p>
            <a:pPr>
              <a:spcAft>
                <a:spcPts val="400"/>
              </a:spcAft>
              <a:defRPr sz="1200" b="1">
                <a:solidFill>
                  <a:srgbClr val="0D9488"/>
                </a:solidFill>
              </a:defRPr>
            </a:pPr>
            <a:r>
              <a:t>2. Normalisasi Matriks (R)</a:t>
            </a:r>
          </a:p>
          <a:p>
            <a:pPr>
              <a:defRPr sz="950">
                <a:solidFill>
                  <a:srgbClr val="475569"/>
                </a:solidFill>
              </a:defRPr>
            </a:pPr>
            <a:r>
              <a:t>rij = xij / √(Σ xij²)</a:t>
            </a:r>
            <a:br/>
            <a:r>
              <a:t>Membagi setiap nilai elemen dengan akar jumlah kuadrat seluruh alternatif per kriteria.</a:t>
            </a:r>
          </a:p>
        </p:txBody>
      </p:sp>
      <p:sp>
        <p:nvSpPr>
          <p:cNvPr id="7" name="Rounded Rectangle 6"/>
          <p:cNvSpPr/>
          <p:nvPr/>
        </p:nvSpPr>
        <p:spPr>
          <a:xfrm>
            <a:off x="8119872" y="155448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57032" y="1691640"/>
            <a:ext cx="3054096" cy="1828800"/>
          </a:xfrm>
          <a:prstGeom prst="rect">
            <a:avLst/>
          </a:prstGeom>
          <a:noFill/>
        </p:spPr>
        <p:txBody>
          <a:bodyPr wrap="square">
            <a:spAutoFit/>
          </a:bodyPr>
          <a:lstStyle/>
          <a:p>
            <a:pPr>
              <a:spcAft>
                <a:spcPts val="400"/>
              </a:spcAft>
              <a:defRPr sz="1200" b="1">
                <a:solidFill>
                  <a:srgbClr val="0D9488"/>
                </a:solidFill>
              </a:defRPr>
            </a:pPr>
            <a:r>
              <a:t>3. Matriks Terbobot (Y)</a:t>
            </a:r>
          </a:p>
          <a:p>
            <a:pPr>
              <a:defRPr sz="950">
                <a:solidFill>
                  <a:srgbClr val="475569"/>
                </a:solidFill>
              </a:defRPr>
            </a:pPr>
            <a:r>
              <a:t>yij = wj · rij</a:t>
            </a:r>
            <a:br/>
            <a:r>
              <a:t>Mengalikan matriks normalisasi R dengan bobot wj yang diperoleh dari metode AHP.</a:t>
            </a:r>
          </a:p>
        </p:txBody>
      </p:sp>
      <p:sp>
        <p:nvSpPr>
          <p:cNvPr id="9" name="Rounded Rectangle 8"/>
          <p:cNvSpPr/>
          <p:nvPr/>
        </p:nvSpPr>
        <p:spPr>
          <a:xfrm>
            <a:off x="731520" y="393192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069080"/>
            <a:ext cx="3054096" cy="1828800"/>
          </a:xfrm>
          <a:prstGeom prst="rect">
            <a:avLst/>
          </a:prstGeom>
          <a:noFill/>
        </p:spPr>
        <p:txBody>
          <a:bodyPr wrap="square">
            <a:spAutoFit/>
          </a:bodyPr>
          <a:lstStyle/>
          <a:p>
            <a:pPr>
              <a:spcAft>
                <a:spcPts val="400"/>
              </a:spcAft>
              <a:defRPr sz="1200" b="1">
                <a:solidFill>
                  <a:srgbClr val="D97706"/>
                </a:solidFill>
              </a:defRPr>
            </a:pPr>
            <a:r>
              <a:t>4. Solusi Ideal (A+ &amp; A-)</a:t>
            </a:r>
          </a:p>
          <a:p>
            <a:pPr>
              <a:defRPr sz="950">
                <a:solidFill>
                  <a:srgbClr val="475569"/>
                </a:solidFill>
              </a:defRPr>
            </a:pPr>
            <a:r>
              <a:t>A+ = {max(yj) benefit, min(yj) cost}</a:t>
            </a:r>
            <a:br/>
            <a:r>
              <a:t>A- = {min(yj) benefit, max(yj) cost}</a:t>
            </a:r>
            <a:br/>
            <a:r>
              <a:t>Menentukan batas performa terbaik dan terburuk.</a:t>
            </a:r>
          </a:p>
        </p:txBody>
      </p:sp>
      <p:sp>
        <p:nvSpPr>
          <p:cNvPr id="11" name="Rounded Rectangle 10"/>
          <p:cNvSpPr/>
          <p:nvPr/>
        </p:nvSpPr>
        <p:spPr>
          <a:xfrm>
            <a:off x="4425696" y="393192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62856" y="4069080"/>
            <a:ext cx="3054096" cy="1828800"/>
          </a:xfrm>
          <a:prstGeom prst="rect">
            <a:avLst/>
          </a:prstGeom>
          <a:noFill/>
        </p:spPr>
        <p:txBody>
          <a:bodyPr wrap="square">
            <a:spAutoFit/>
          </a:bodyPr>
          <a:lstStyle/>
          <a:p>
            <a:pPr>
              <a:spcAft>
                <a:spcPts val="400"/>
              </a:spcAft>
              <a:defRPr sz="1200" b="1">
                <a:solidFill>
                  <a:srgbClr val="D97706"/>
                </a:solidFill>
              </a:defRPr>
            </a:pPr>
            <a:r>
              <a:t>5. Jarak Euclidean (D+ &amp; D-)</a:t>
            </a:r>
          </a:p>
          <a:p>
            <a:pPr>
              <a:defRPr sz="950">
                <a:solidFill>
                  <a:srgbClr val="475569"/>
                </a:solidFill>
              </a:defRPr>
            </a:pPr>
            <a:r>
              <a:t>Di+ = √(Σ(yij - yj+)²)</a:t>
            </a:r>
            <a:br/>
            <a:r>
              <a:t>Di- = √(Σ(yij - yj-)²)</a:t>
            </a:r>
            <a:br/>
            <a:r>
              <a:t>Menghitung jarak geometris tiap daerah ke A+ dan A-.</a:t>
            </a:r>
          </a:p>
        </p:txBody>
      </p:sp>
      <p:sp>
        <p:nvSpPr>
          <p:cNvPr id="13" name="Rounded Rectangle 12"/>
          <p:cNvSpPr/>
          <p:nvPr/>
        </p:nvSpPr>
        <p:spPr>
          <a:xfrm>
            <a:off x="8119872" y="3931920"/>
            <a:ext cx="3328416"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57032" y="4069080"/>
            <a:ext cx="3054096" cy="1828800"/>
          </a:xfrm>
          <a:prstGeom prst="rect">
            <a:avLst/>
          </a:prstGeom>
          <a:noFill/>
        </p:spPr>
        <p:txBody>
          <a:bodyPr wrap="square">
            <a:spAutoFit/>
          </a:bodyPr>
          <a:lstStyle/>
          <a:p>
            <a:pPr>
              <a:spcAft>
                <a:spcPts val="400"/>
              </a:spcAft>
              <a:defRPr sz="1200" b="1">
                <a:solidFill>
                  <a:srgbClr val="E11D48"/>
                </a:solidFill>
              </a:defRPr>
            </a:pPr>
            <a:r>
              <a:t>6. Preferensi Relatif (Vi)</a:t>
            </a:r>
          </a:p>
          <a:p>
            <a:pPr>
              <a:defRPr sz="950">
                <a:solidFill>
                  <a:srgbClr val="475569"/>
                </a:solidFill>
              </a:defRPr>
            </a:pPr>
            <a:r>
              <a:t>Vi = Di- / (Di+ + Di-)</a:t>
            </a:r>
            <a:br/>
            <a:r>
              <a:t>Nilai preferensi 0 ≤ Vi ≤ 1. Nilai Vi tertinggi menduduki peringkat prioritas nomor 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HASIL &amp; TEMUAN</a:t>
            </a:r>
          </a:p>
          <a:p>
            <a:pPr>
              <a:defRPr sz="2200" b="1">
                <a:solidFill>
                  <a:srgbClr val="0F172A"/>
                </a:solidFill>
              </a:defRPr>
            </a:pPr>
            <a:r>
              <a:t>Hasil Perangkingan Prioritas Stunting Jawa Tengah</a:t>
            </a:r>
          </a:p>
          <a:p>
            <a:pPr>
              <a:defRPr sz="1100">
                <a:solidFill>
                  <a:srgbClr val="475569"/>
                </a:solidFill>
              </a:defRPr>
            </a:pPr>
            <a:r>
              <a:t>Evaluasi empiris 35 Kabupaten/Kota berbasis dataset indikator tahun 2025</a:t>
            </a:r>
          </a:p>
        </p:txBody>
      </p:sp>
      <p:graphicFrame>
        <p:nvGraphicFramePr>
          <p:cNvPr id="3" name="Table 2"/>
          <p:cNvGraphicFramePr>
            <a:graphicFrameLocks noGrp="1"/>
          </p:cNvGraphicFramePr>
          <p:nvPr/>
        </p:nvGraphicFramePr>
        <p:xfrm>
          <a:off x="731520" y="1554480"/>
          <a:ext cx="6858000" cy="4572000"/>
        </p:xfrm>
        <a:graphic>
          <a:graphicData uri="http://schemas.openxmlformats.org/drawingml/2006/table">
            <a:tbl>
              <a:tblPr firstRow="1" bandRow="1">
                <a:tableStyleId>{5C22544A-7EE6-4342-B048-85BDC9FD1C3A}</a:tableStyleId>
              </a:tblPr>
              <a:tblGrid>
                <a:gridCol w="731520"/>
                <a:gridCol w="2011680"/>
                <a:gridCol w="1005840"/>
                <a:gridCol w="1005840"/>
                <a:gridCol w="1005840"/>
                <a:gridCol w="1097280"/>
              </a:tblGrid>
              <a:tr h="508000">
                <a:tc>
                  <a:txBody>
                    <a:bodyPr/>
                    <a:lstStyle/>
                    <a:p>
                      <a:pPr algn="ctr">
                        <a:defRPr sz="1000" b="1">
                          <a:solidFill>
                            <a:srgbClr val="FFFFFF"/>
                          </a:solidFill>
                        </a:defRPr>
                      </a:pPr>
                      <a:r>
                        <a:t>Rank</a:t>
                      </a:r>
                    </a:p>
                  </a:txBody>
                  <a:tcPr>
                    <a:solidFill>
                      <a:srgbClr val="0F766E"/>
                    </a:solidFill>
                  </a:tcPr>
                </a:tc>
                <a:tc>
                  <a:txBody>
                    <a:bodyPr/>
                    <a:lstStyle/>
                    <a:p>
                      <a:pPr algn="l">
                        <a:defRPr sz="1000" b="1">
                          <a:solidFill>
                            <a:srgbClr val="FFFFFF"/>
                          </a:solidFill>
                        </a:defRPr>
                      </a:pPr>
                      <a:r>
                        <a:t>Kabupaten/Kota</a:t>
                      </a:r>
                    </a:p>
                  </a:txBody>
                  <a:tcPr>
                    <a:solidFill>
                      <a:srgbClr val="0F766E"/>
                    </a:solidFill>
                  </a:tcPr>
                </a:tc>
                <a:tc>
                  <a:txBody>
                    <a:bodyPr/>
                    <a:lstStyle/>
                    <a:p>
                      <a:pPr algn="ctr">
                        <a:defRPr sz="1000" b="1">
                          <a:solidFill>
                            <a:srgbClr val="FFFFFF"/>
                          </a:solidFill>
                        </a:defRPr>
                      </a:pPr>
                      <a:r>
                        <a:t>Jarak D+</a:t>
                      </a:r>
                    </a:p>
                  </a:txBody>
                  <a:tcPr>
                    <a:solidFill>
                      <a:srgbClr val="0F766E"/>
                    </a:solidFill>
                  </a:tcPr>
                </a:tc>
                <a:tc>
                  <a:txBody>
                    <a:bodyPr/>
                    <a:lstStyle/>
                    <a:p>
                      <a:pPr algn="ctr">
                        <a:defRPr sz="1000" b="1">
                          <a:solidFill>
                            <a:srgbClr val="FFFFFF"/>
                          </a:solidFill>
                        </a:defRPr>
                      </a:pPr>
                      <a:r>
                        <a:t>Jarak D-</a:t>
                      </a:r>
                    </a:p>
                  </a:txBody>
                  <a:tcPr>
                    <a:solidFill>
                      <a:srgbClr val="0F766E"/>
                    </a:solidFill>
                  </a:tcPr>
                </a:tc>
                <a:tc>
                  <a:txBody>
                    <a:bodyPr/>
                    <a:lstStyle/>
                    <a:p>
                      <a:pPr algn="ctr">
                        <a:defRPr sz="1000" b="1">
                          <a:solidFill>
                            <a:srgbClr val="FFFFFF"/>
                          </a:solidFill>
                        </a:defRPr>
                      </a:pPr>
                      <a:r>
                        <a:t>Skor (Vi)</a:t>
                      </a:r>
                    </a:p>
                  </a:txBody>
                  <a:tcPr>
                    <a:solidFill>
                      <a:srgbClr val="0F766E"/>
                    </a:solidFill>
                  </a:tcPr>
                </a:tc>
                <a:tc>
                  <a:txBody>
                    <a:bodyPr/>
                    <a:lstStyle/>
                    <a:p>
                      <a:pPr algn="ctr">
                        <a:defRPr sz="1000" b="1">
                          <a:solidFill>
                            <a:srgbClr val="FFFFFF"/>
                          </a:solidFill>
                        </a:defRPr>
                      </a:pPr>
                      <a:r>
                        <a:t>Kategori</a:t>
                      </a:r>
                    </a:p>
                  </a:txBody>
                  <a:tcPr>
                    <a:solidFill>
                      <a:srgbClr val="0F766E"/>
                    </a:solidFill>
                  </a:tcPr>
                </a:tc>
              </a:tr>
              <a:tr h="508000">
                <a:tc>
                  <a:txBody>
                    <a:bodyPr/>
                    <a:lstStyle/>
                    <a:p>
                      <a:pPr algn="ctr">
                        <a:defRPr sz="950" b="1">
                          <a:solidFill>
                            <a:srgbClr val="D97706"/>
                          </a:solidFill>
                        </a:defRPr>
                      </a:pPr>
                      <a:r>
                        <a:t>1</a:t>
                      </a:r>
                    </a:p>
                  </a:txBody>
                  <a:tcPr/>
                </a:tc>
                <a:tc>
                  <a:txBody>
                    <a:bodyPr/>
                    <a:lstStyle/>
                    <a:p>
                      <a:pPr>
                        <a:defRPr sz="950"/>
                      </a:pPr>
                      <a:r>
                        <a:t>Kab. Brebes</a:t>
                      </a:r>
                    </a:p>
                  </a:txBody>
                  <a:tcPr/>
                </a:tc>
                <a:tc>
                  <a:txBody>
                    <a:bodyPr/>
                    <a:lstStyle/>
                    <a:p>
                      <a:pPr algn="ctr">
                        <a:defRPr sz="950"/>
                      </a:pPr>
                      <a:r>
                        <a:t>0.0094</a:t>
                      </a:r>
                    </a:p>
                  </a:txBody>
                  <a:tcPr/>
                </a:tc>
                <a:tc>
                  <a:txBody>
                    <a:bodyPr/>
                    <a:lstStyle/>
                    <a:p>
                      <a:pPr algn="ctr">
                        <a:defRPr sz="950"/>
                      </a:pPr>
                      <a:r>
                        <a:t>0.1531</a:t>
                      </a:r>
                    </a:p>
                  </a:txBody>
                  <a:tcPr/>
                </a:tc>
                <a:tc>
                  <a:txBody>
                    <a:bodyPr/>
                    <a:lstStyle/>
                    <a:p>
                      <a:pPr algn="ctr">
                        <a:defRPr sz="950" b="1">
                          <a:solidFill>
                            <a:srgbClr val="0D9488"/>
                          </a:solidFill>
                        </a:defRPr>
                      </a:pPr>
                      <a:r>
                        <a:t>0.9422</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D97706"/>
                          </a:solidFill>
                        </a:defRPr>
                      </a:pPr>
                      <a:r>
                        <a:t>2</a:t>
                      </a:r>
                    </a:p>
                  </a:txBody>
                  <a:tcPr/>
                </a:tc>
                <a:tc>
                  <a:txBody>
                    <a:bodyPr/>
                    <a:lstStyle/>
                    <a:p>
                      <a:pPr>
                        <a:defRPr sz="950"/>
                      </a:pPr>
                      <a:r>
                        <a:t>Kab. Pemalang</a:t>
                      </a:r>
                    </a:p>
                  </a:txBody>
                  <a:tcPr/>
                </a:tc>
                <a:tc>
                  <a:txBody>
                    <a:bodyPr/>
                    <a:lstStyle/>
                    <a:p>
                      <a:pPr algn="ctr">
                        <a:defRPr sz="950"/>
                      </a:pPr>
                      <a:r>
                        <a:t>0.0336</a:t>
                      </a:r>
                    </a:p>
                  </a:txBody>
                  <a:tcPr/>
                </a:tc>
                <a:tc>
                  <a:txBody>
                    <a:bodyPr/>
                    <a:lstStyle/>
                    <a:p>
                      <a:pPr algn="ctr">
                        <a:defRPr sz="950"/>
                      </a:pPr>
                      <a:r>
                        <a:t>0.1388</a:t>
                      </a:r>
                    </a:p>
                  </a:txBody>
                  <a:tcPr/>
                </a:tc>
                <a:tc>
                  <a:txBody>
                    <a:bodyPr/>
                    <a:lstStyle/>
                    <a:p>
                      <a:pPr algn="ctr">
                        <a:defRPr sz="950" b="1">
                          <a:solidFill>
                            <a:srgbClr val="0D9488"/>
                          </a:solidFill>
                        </a:defRPr>
                      </a:pPr>
                      <a:r>
                        <a:t>0.8055</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D97706"/>
                          </a:solidFill>
                        </a:defRPr>
                      </a:pPr>
                      <a:r>
                        <a:t>3</a:t>
                      </a:r>
                    </a:p>
                  </a:txBody>
                  <a:tcPr/>
                </a:tc>
                <a:tc>
                  <a:txBody>
                    <a:bodyPr/>
                    <a:lstStyle/>
                    <a:p>
                      <a:pPr>
                        <a:defRPr sz="950"/>
                      </a:pPr>
                      <a:r>
                        <a:t>Kab. Kebumen</a:t>
                      </a:r>
                    </a:p>
                  </a:txBody>
                  <a:tcPr/>
                </a:tc>
                <a:tc>
                  <a:txBody>
                    <a:bodyPr/>
                    <a:lstStyle/>
                    <a:p>
                      <a:pPr algn="ctr">
                        <a:defRPr sz="950"/>
                      </a:pPr>
                      <a:r>
                        <a:t>0.0450</a:t>
                      </a:r>
                    </a:p>
                  </a:txBody>
                  <a:tcPr/>
                </a:tc>
                <a:tc>
                  <a:txBody>
                    <a:bodyPr/>
                    <a:lstStyle/>
                    <a:p>
                      <a:pPr algn="ctr">
                        <a:defRPr sz="950"/>
                      </a:pPr>
                      <a:r>
                        <a:t>0.1274</a:t>
                      </a:r>
                    </a:p>
                  </a:txBody>
                  <a:tcPr/>
                </a:tc>
                <a:tc>
                  <a:txBody>
                    <a:bodyPr/>
                    <a:lstStyle/>
                    <a:p>
                      <a:pPr algn="ctr">
                        <a:defRPr sz="950" b="1">
                          <a:solidFill>
                            <a:srgbClr val="0D9488"/>
                          </a:solidFill>
                        </a:defRPr>
                      </a:pPr>
                      <a:r>
                        <a:t>0.7392</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0F172A"/>
                          </a:solidFill>
                        </a:defRPr>
                      </a:pPr>
                      <a:r>
                        <a:t>4</a:t>
                      </a:r>
                    </a:p>
                  </a:txBody>
                  <a:tcPr/>
                </a:tc>
                <a:tc>
                  <a:txBody>
                    <a:bodyPr/>
                    <a:lstStyle/>
                    <a:p>
                      <a:pPr>
                        <a:defRPr sz="950"/>
                      </a:pPr>
                      <a:r>
                        <a:t>Kab. Tegal</a:t>
                      </a:r>
                    </a:p>
                  </a:txBody>
                  <a:tcPr/>
                </a:tc>
                <a:tc>
                  <a:txBody>
                    <a:bodyPr/>
                    <a:lstStyle/>
                    <a:p>
                      <a:pPr algn="ctr">
                        <a:defRPr sz="950"/>
                      </a:pPr>
                      <a:r>
                        <a:t>0.0468</a:t>
                      </a:r>
                    </a:p>
                  </a:txBody>
                  <a:tcPr/>
                </a:tc>
                <a:tc>
                  <a:txBody>
                    <a:bodyPr/>
                    <a:lstStyle/>
                    <a:p>
                      <a:pPr algn="ctr">
                        <a:defRPr sz="950"/>
                      </a:pPr>
                      <a:r>
                        <a:t>0.1287</a:t>
                      </a:r>
                    </a:p>
                  </a:txBody>
                  <a:tcPr/>
                </a:tc>
                <a:tc>
                  <a:txBody>
                    <a:bodyPr/>
                    <a:lstStyle/>
                    <a:p>
                      <a:pPr algn="ctr">
                        <a:defRPr sz="950" b="1">
                          <a:solidFill>
                            <a:srgbClr val="0D9488"/>
                          </a:solidFill>
                        </a:defRPr>
                      </a:pPr>
                      <a:r>
                        <a:t>0.7336</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0F172A"/>
                          </a:solidFill>
                        </a:defRPr>
                      </a:pPr>
                      <a:r>
                        <a:t>5</a:t>
                      </a:r>
                    </a:p>
                  </a:txBody>
                  <a:tcPr/>
                </a:tc>
                <a:tc>
                  <a:txBody>
                    <a:bodyPr/>
                    <a:lstStyle/>
                    <a:p>
                      <a:pPr>
                        <a:defRPr sz="950"/>
                      </a:pPr>
                      <a:r>
                        <a:t>Kab. Wonosobo</a:t>
                      </a:r>
                    </a:p>
                  </a:txBody>
                  <a:tcPr/>
                </a:tc>
                <a:tc>
                  <a:txBody>
                    <a:bodyPr/>
                    <a:lstStyle/>
                    <a:p>
                      <a:pPr algn="ctr">
                        <a:defRPr sz="950"/>
                      </a:pPr>
                      <a:r>
                        <a:t>0.0526</a:t>
                      </a:r>
                    </a:p>
                  </a:txBody>
                  <a:tcPr/>
                </a:tc>
                <a:tc>
                  <a:txBody>
                    <a:bodyPr/>
                    <a:lstStyle/>
                    <a:p>
                      <a:pPr algn="ctr">
                        <a:defRPr sz="950"/>
                      </a:pPr>
                      <a:r>
                        <a:t>0.1213</a:t>
                      </a:r>
                    </a:p>
                  </a:txBody>
                  <a:tcPr/>
                </a:tc>
                <a:tc>
                  <a:txBody>
                    <a:bodyPr/>
                    <a:lstStyle/>
                    <a:p>
                      <a:pPr algn="ctr">
                        <a:defRPr sz="950" b="1">
                          <a:solidFill>
                            <a:srgbClr val="0D9488"/>
                          </a:solidFill>
                        </a:defRPr>
                      </a:pPr>
                      <a:r>
                        <a:t>0.6974</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0F172A"/>
                          </a:solidFill>
                        </a:defRPr>
                      </a:pPr>
                      <a:r>
                        <a:t>6</a:t>
                      </a:r>
                    </a:p>
                  </a:txBody>
                  <a:tcPr/>
                </a:tc>
                <a:tc>
                  <a:txBody>
                    <a:bodyPr/>
                    <a:lstStyle/>
                    <a:p>
                      <a:pPr>
                        <a:defRPr sz="950"/>
                      </a:pPr>
                      <a:r>
                        <a:t>Kab. Grobogan</a:t>
                      </a:r>
                    </a:p>
                  </a:txBody>
                  <a:tcPr/>
                </a:tc>
                <a:tc>
                  <a:txBody>
                    <a:bodyPr/>
                    <a:lstStyle/>
                    <a:p>
                      <a:pPr algn="ctr">
                        <a:defRPr sz="950"/>
                      </a:pPr>
                      <a:r>
                        <a:t>0.0583</a:t>
                      </a:r>
                    </a:p>
                  </a:txBody>
                  <a:tcPr/>
                </a:tc>
                <a:tc>
                  <a:txBody>
                    <a:bodyPr/>
                    <a:lstStyle/>
                    <a:p>
                      <a:pPr algn="ctr">
                        <a:defRPr sz="950"/>
                      </a:pPr>
                      <a:r>
                        <a:t>0.1160</a:t>
                      </a:r>
                    </a:p>
                  </a:txBody>
                  <a:tcPr/>
                </a:tc>
                <a:tc>
                  <a:txBody>
                    <a:bodyPr/>
                    <a:lstStyle/>
                    <a:p>
                      <a:pPr algn="ctr">
                        <a:defRPr sz="950" b="1">
                          <a:solidFill>
                            <a:srgbClr val="0D9488"/>
                          </a:solidFill>
                        </a:defRPr>
                      </a:pPr>
                      <a:r>
                        <a:t>0.6655</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0F172A"/>
                          </a:solidFill>
                        </a:defRPr>
                      </a:pPr>
                      <a:r>
                        <a:t>7</a:t>
                      </a:r>
                    </a:p>
                  </a:txBody>
                  <a:tcPr/>
                </a:tc>
                <a:tc>
                  <a:txBody>
                    <a:bodyPr/>
                    <a:lstStyle/>
                    <a:p>
                      <a:pPr>
                        <a:defRPr sz="950"/>
                      </a:pPr>
                      <a:r>
                        <a:t>Kab. Banjarnegara</a:t>
                      </a:r>
                    </a:p>
                  </a:txBody>
                  <a:tcPr/>
                </a:tc>
                <a:tc>
                  <a:txBody>
                    <a:bodyPr/>
                    <a:lstStyle/>
                    <a:p>
                      <a:pPr algn="ctr">
                        <a:defRPr sz="950"/>
                      </a:pPr>
                      <a:r>
                        <a:t>0.0589</a:t>
                      </a:r>
                    </a:p>
                  </a:txBody>
                  <a:tcPr/>
                </a:tc>
                <a:tc>
                  <a:txBody>
                    <a:bodyPr/>
                    <a:lstStyle/>
                    <a:p>
                      <a:pPr algn="ctr">
                        <a:defRPr sz="950"/>
                      </a:pPr>
                      <a:r>
                        <a:t>0.1144</a:t>
                      </a:r>
                    </a:p>
                  </a:txBody>
                  <a:tcPr/>
                </a:tc>
                <a:tc>
                  <a:txBody>
                    <a:bodyPr/>
                    <a:lstStyle/>
                    <a:p>
                      <a:pPr algn="ctr">
                        <a:defRPr sz="950" b="1">
                          <a:solidFill>
                            <a:srgbClr val="0D9488"/>
                          </a:solidFill>
                        </a:defRPr>
                      </a:pPr>
                      <a:r>
                        <a:t>0.6600</a:t>
                      </a:r>
                    </a:p>
                  </a:txBody>
                  <a:tcPr/>
                </a:tc>
                <a:tc>
                  <a:txBody>
                    <a:bodyPr/>
                    <a:lstStyle/>
                    <a:p>
                      <a:pPr algn="ctr">
                        <a:defRPr sz="950" b="1">
                          <a:solidFill>
                            <a:srgbClr val="E11D48"/>
                          </a:solidFill>
                        </a:defRPr>
                      </a:pPr>
                      <a:r>
                        <a:t>Sangat Tinggi</a:t>
                      </a:r>
                    </a:p>
                  </a:txBody>
                  <a:tcPr/>
                </a:tc>
              </a:tr>
              <a:tr h="508000">
                <a:tc>
                  <a:txBody>
                    <a:bodyPr/>
                    <a:lstStyle/>
                    <a:p>
                      <a:pPr algn="ctr">
                        <a:defRPr sz="950" b="1">
                          <a:solidFill>
                            <a:srgbClr val="0F172A"/>
                          </a:solidFill>
                        </a:defRPr>
                      </a:pPr>
                      <a:r>
                        <a:t>8</a:t>
                      </a:r>
                    </a:p>
                  </a:txBody>
                  <a:tcPr/>
                </a:tc>
                <a:tc>
                  <a:txBody>
                    <a:bodyPr/>
                    <a:lstStyle/>
                    <a:p>
                      <a:pPr>
                        <a:defRPr sz="950"/>
                      </a:pPr>
                      <a:r>
                        <a:t>Kab. Cilacap</a:t>
                      </a:r>
                    </a:p>
                  </a:txBody>
                  <a:tcPr/>
                </a:tc>
                <a:tc>
                  <a:txBody>
                    <a:bodyPr/>
                    <a:lstStyle/>
                    <a:p>
                      <a:pPr algn="ctr">
                        <a:defRPr sz="950"/>
                      </a:pPr>
                      <a:r>
                        <a:t>0.0674</a:t>
                      </a:r>
                    </a:p>
                  </a:txBody>
                  <a:tcPr/>
                </a:tc>
                <a:tc>
                  <a:txBody>
                    <a:bodyPr/>
                    <a:lstStyle/>
                    <a:p>
                      <a:pPr algn="ctr">
                        <a:defRPr sz="950"/>
                      </a:pPr>
                      <a:r>
                        <a:t>0.1068</a:t>
                      </a:r>
                    </a:p>
                  </a:txBody>
                  <a:tcPr/>
                </a:tc>
                <a:tc>
                  <a:txBody>
                    <a:bodyPr/>
                    <a:lstStyle/>
                    <a:p>
                      <a:pPr algn="ctr">
                        <a:defRPr sz="950" b="1">
                          <a:solidFill>
                            <a:srgbClr val="0D9488"/>
                          </a:solidFill>
                        </a:defRPr>
                      </a:pPr>
                      <a:r>
                        <a:t>0.6130</a:t>
                      </a:r>
                    </a:p>
                  </a:txBody>
                  <a:tcPr/>
                </a:tc>
                <a:tc>
                  <a:txBody>
                    <a:bodyPr/>
                    <a:lstStyle/>
                    <a:p>
                      <a:pPr algn="ctr">
                        <a:defRPr sz="950" b="1">
                          <a:solidFill>
                            <a:srgbClr val="E11D48"/>
                          </a:solidFill>
                        </a:defRPr>
                      </a:pPr>
                      <a:r>
                        <a:t>Sangat Tinggi</a:t>
                      </a:r>
                    </a:p>
                  </a:txBody>
                  <a:tcPr/>
                </a:tc>
              </a:tr>
            </a:tbl>
          </a:graphicData>
        </a:graphic>
      </p:graphicFrame>
      <p:sp>
        <p:nvSpPr>
          <p:cNvPr id="4" name="Rounded Rectangle 3"/>
          <p:cNvSpPr/>
          <p:nvPr/>
        </p:nvSpPr>
        <p:spPr>
          <a:xfrm>
            <a:off x="7863840" y="1554480"/>
            <a:ext cx="3593592"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0" y="1691640"/>
            <a:ext cx="3227832" cy="4297680"/>
          </a:xfrm>
          <a:prstGeom prst="rect">
            <a:avLst/>
          </a:prstGeom>
          <a:noFill/>
        </p:spPr>
        <p:txBody>
          <a:bodyPr wrap="square">
            <a:spAutoFit/>
          </a:bodyPr>
          <a:lstStyle/>
          <a:p>
            <a:pPr>
              <a:spcAft>
                <a:spcPts val="800"/>
              </a:spcAft>
              <a:defRPr sz="1300" b="1">
                <a:solidFill>
                  <a:srgbClr val="0D9488"/>
                </a:solidFill>
              </a:defRPr>
            </a:pPr>
            <a:r>
              <a:t>INSIGHT HASIL PERANGKINGAN</a:t>
            </a:r>
          </a:p>
          <a:p>
            <a:pPr>
              <a:spcAft>
                <a:spcPts val="800"/>
              </a:spcAft>
              <a:defRPr sz="1000">
                <a:solidFill>
                  <a:srgbClr val="0F172A"/>
                </a:solidFill>
              </a:defRPr>
            </a:pPr>
            <a:r>
              <a:t>1. Klaster Pantura Barat &amp; Pegunungan Tengah:</a:t>
            </a:r>
            <a:br/>
            <a:r>
              <a:t>Kab. Brebes (0.9422), Pemalang (0.8055), dan Kebumen (0.7392) menduduki 3 peringkat teratas dengan kategori Sangat Tinggi karena kombinasi prevalensi tinggi (&gt;21%), populasi balita stunting besar, dan sanitasi terbatas.</a:t>
            </a:r>
          </a:p>
          <a:p>
            <a:pPr>
              <a:spcAft>
                <a:spcPts val="800"/>
              </a:spcAft>
              <a:defRPr sz="1000">
                <a:solidFill>
                  <a:srgbClr val="0F172A"/>
                </a:solidFill>
              </a:defRPr>
            </a:pPr>
            <a:r>
              <a:t>2. Klaster Perkotaan Berisiko Rendah:</a:t>
            </a:r>
            <a:br/>
            <a:r>
              <a:t>Kota Surakarta (0.1395), Kota Magelang (0.1526), dan Kota Semarang (0.1819) menempati peringkat terbawah (Prioritas Rendah) berkat cakupan sanitasi &amp; air minum &gt;95% dan rasio nakes yang sangat memadai.</a:t>
            </a:r>
          </a:p>
          <a:p>
            <a:pPr>
              <a:spcAft>
                <a:spcPts val="800"/>
              </a:spcAft>
              <a:defRPr sz="1000">
                <a:solidFill>
                  <a:srgbClr val="0F172A"/>
                </a:solidFill>
              </a:defRPr>
            </a:pPr>
            <a:r>
              <a:t>3. Implikasi Anggaran:</a:t>
            </a:r>
            <a:br/>
            <a:r>
              <a:t>Dana DAK fisik kesehatan dan bantuan pangan intervensi gizi wajib dialokasikan prioritas ke Top 8 wilayah Sangat Tinggi.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IMPLEMENTASI PERANGKAT LUNAK</a:t>
            </a:r>
          </a:p>
          <a:p>
            <a:pPr>
              <a:defRPr sz="2200" b="1">
                <a:solidFill>
                  <a:srgbClr val="0F172A"/>
                </a:solidFill>
              </a:defRPr>
            </a:pPr>
            <a:r>
              <a:t>Arsitektur Sistem &amp; Fitur Aplikasi Web</a:t>
            </a:r>
          </a:p>
          <a:p>
            <a:pPr>
              <a:defRPr sz="1100">
                <a:solidFill>
                  <a:srgbClr val="475569"/>
                </a:solidFill>
              </a:defRPr>
            </a:pPr>
            <a:r>
              <a:t>Desain modular modern berbasis React, TypeScript, Tailwind CSS, &amp; Recharts</a:t>
            </a:r>
          </a:p>
        </p:txBody>
      </p:sp>
      <p:sp>
        <p:nvSpPr>
          <p:cNvPr id="3" name="Rounded Rectangle 2"/>
          <p:cNvSpPr/>
          <p:nvPr/>
        </p:nvSpPr>
        <p:spPr>
          <a:xfrm>
            <a:off x="731520" y="155448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91640"/>
            <a:ext cx="4754880" cy="1828800"/>
          </a:xfrm>
          <a:prstGeom prst="rect">
            <a:avLst/>
          </a:prstGeom>
          <a:noFill/>
        </p:spPr>
        <p:txBody>
          <a:bodyPr wrap="square">
            <a:spAutoFit/>
          </a:bodyPr>
          <a:lstStyle/>
          <a:p>
            <a:pPr>
              <a:spcAft>
                <a:spcPts val="600"/>
              </a:spcAft>
              <a:defRPr sz="1300" b="1">
                <a:solidFill>
                  <a:srgbClr val="0D9488"/>
                </a:solidFill>
              </a:defRPr>
            </a:pPr>
            <a:r>
              <a:t>1. Dashboard Visual &amp; Radar Multi-Dimensi</a:t>
            </a:r>
          </a:p>
          <a:p>
            <a:pPr>
              <a:defRPr sz="1000">
                <a:solidFill>
                  <a:srgbClr val="0F172A"/>
                </a:solidFill>
              </a:defRPr>
            </a:pPr>
            <a:r>
              <a:t>• Visualisasi Recharts interaktif: Bar Chart Top 10 Prioritas dan Area Chart sebaran 35 daerah.</a:t>
            </a:r>
            <a:br/>
            <a:r>
              <a:t>• Radar Chart komparatif: Membandingkan secara langsung 2 Kabupaten/Kota di 6 dimensi indikator untuk mendeteksi kelemahan spesifik daerah.</a:t>
            </a:r>
          </a:p>
        </p:txBody>
      </p:sp>
      <p:sp>
        <p:nvSpPr>
          <p:cNvPr id="5" name="Rounded Rectangle 4"/>
          <p:cNvSpPr/>
          <p:nvPr/>
        </p:nvSpPr>
        <p:spPr>
          <a:xfrm>
            <a:off x="6336792" y="155448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19672" y="1691640"/>
            <a:ext cx="4754880" cy="1828800"/>
          </a:xfrm>
          <a:prstGeom prst="rect">
            <a:avLst/>
          </a:prstGeom>
          <a:noFill/>
        </p:spPr>
        <p:txBody>
          <a:bodyPr wrap="square">
            <a:spAutoFit/>
          </a:bodyPr>
          <a:lstStyle/>
          <a:p>
            <a:pPr>
              <a:spcAft>
                <a:spcPts val="600"/>
              </a:spcAft>
              <a:defRPr sz="1300" b="1">
                <a:solidFill>
                  <a:srgbClr val="06B6D4"/>
                </a:solidFill>
              </a:defRPr>
            </a:pPr>
            <a:r>
              <a:t>2. Modul Simulasi AHP Interaktif</a:t>
            </a:r>
          </a:p>
          <a:p>
            <a:pPr>
              <a:defRPr sz="1000">
                <a:solidFill>
                  <a:srgbClr val="0F172A"/>
                </a:solidFill>
              </a:defRPr>
            </a:pPr>
            <a:r>
              <a:t>• Form matriks Saaty interaktif dengan pengisian dinamis dan update sel resiprokal otomatis (1/x).</a:t>
            </a:r>
            <a:br/>
            <a:r>
              <a:t>• Validasi real-time nilai Lambda Max, CI, dan CR dengan indikator status badge Konsisten / Tidak Konsisten.</a:t>
            </a:r>
          </a:p>
        </p:txBody>
      </p:sp>
      <p:sp>
        <p:nvSpPr>
          <p:cNvPr id="7" name="Rounded Rectangle 6"/>
          <p:cNvSpPr/>
          <p:nvPr/>
        </p:nvSpPr>
        <p:spPr>
          <a:xfrm>
            <a:off x="731520" y="397764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114800"/>
            <a:ext cx="4754880" cy="1828800"/>
          </a:xfrm>
          <a:prstGeom prst="rect">
            <a:avLst/>
          </a:prstGeom>
          <a:noFill/>
        </p:spPr>
        <p:txBody>
          <a:bodyPr wrap="square">
            <a:spAutoFit/>
          </a:bodyPr>
          <a:lstStyle/>
          <a:p>
            <a:pPr>
              <a:spcAft>
                <a:spcPts val="600"/>
              </a:spcAft>
              <a:defRPr sz="1300" b="1">
                <a:solidFill>
                  <a:srgbClr val="D97706"/>
                </a:solidFill>
              </a:defRPr>
            </a:pPr>
            <a:r>
              <a:t>3. Transparansi Step-by-Step TOPSIS</a:t>
            </a:r>
          </a:p>
          <a:p>
            <a:pPr>
              <a:defRPr sz="1000">
                <a:solidFill>
                  <a:srgbClr val="0F172A"/>
                </a:solidFill>
              </a:defRPr>
            </a:pPr>
            <a:r>
              <a:t>• Tidak seperti sistem 'black box', modul ini menampilkan 7 tab tahapan kalkulasi transparan:</a:t>
            </a:r>
            <a:br/>
            <a:r>
              <a:t>  - Matriks Keputusan (X), Matriks Ternormalisasi (R), Matriks Terbobot (Y), Nilai Ideal (A+/A-), hingga Jarak D+/D-.</a:t>
            </a:r>
          </a:p>
        </p:txBody>
      </p:sp>
      <p:sp>
        <p:nvSpPr>
          <p:cNvPr id="9" name="Rounded Rectangle 8"/>
          <p:cNvSpPr/>
          <p:nvPr/>
        </p:nvSpPr>
        <p:spPr>
          <a:xfrm>
            <a:off x="6336792" y="397764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4114800"/>
            <a:ext cx="4754880" cy="1828800"/>
          </a:xfrm>
          <a:prstGeom prst="rect">
            <a:avLst/>
          </a:prstGeom>
          <a:noFill/>
        </p:spPr>
        <p:txBody>
          <a:bodyPr wrap="square">
            <a:spAutoFit/>
          </a:bodyPr>
          <a:lstStyle/>
          <a:p>
            <a:pPr>
              <a:spcAft>
                <a:spcPts val="600"/>
              </a:spcAft>
              <a:defRPr sz="1300" b="1">
                <a:solidFill>
                  <a:srgbClr val="10B981"/>
                </a:solidFill>
              </a:defRPr>
            </a:pPr>
            <a:r>
              <a:t>4. Pelaporan Resmi &amp; Master Data Dinamis</a:t>
            </a:r>
          </a:p>
          <a:p>
            <a:pPr>
              <a:defRPr sz="1000">
                <a:solidFill>
                  <a:srgbClr val="0F172A"/>
                </a:solidFill>
              </a:defRPr>
            </a:pPr>
            <a:r>
              <a:t>• Master data CRUD Kabupaten/Kota, Kriteria, dan Dataset multi-tahun (2023, 2024, 2025).</a:t>
            </a:r>
            <a:br/>
            <a:r>
              <a:t>• Fitur Export PDF Resmi (dengan format surat dinas) dan Export Excel Spreadsheet dengan satu klik.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VALIDASI MODEL</a:t>
            </a:r>
          </a:p>
          <a:p>
            <a:pPr>
              <a:defRPr sz="2200" b="1">
                <a:solidFill>
                  <a:srgbClr val="0F172A"/>
                </a:solidFill>
              </a:defRPr>
            </a:pPr>
            <a:r>
              <a:t>Analisis Sensitivitas &amp; Stabilitas Keputusan</a:t>
            </a:r>
          </a:p>
          <a:p>
            <a:pPr>
              <a:defRPr sz="1100">
                <a:solidFill>
                  <a:srgbClr val="475569"/>
                </a:solidFill>
              </a:defRPr>
            </a:pPr>
            <a:r>
              <a:t>Menguji ketahanan hasil perankingan terhadap fluktuasi bobot kriteria</a:t>
            </a:r>
          </a:p>
        </p:txBody>
      </p:sp>
      <p:sp>
        <p:nvSpPr>
          <p:cNvPr id="3" name="Rounded Rectangle 2"/>
          <p:cNvSpPr/>
          <p:nvPr/>
        </p:nvSpPr>
        <p:spPr>
          <a:xfrm>
            <a:off x="731520" y="1554480"/>
            <a:ext cx="3328416"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2962656" cy="4206240"/>
          </a:xfrm>
          <a:prstGeom prst="rect">
            <a:avLst/>
          </a:prstGeom>
          <a:noFill/>
        </p:spPr>
        <p:txBody>
          <a:bodyPr wrap="square">
            <a:spAutoFit/>
          </a:bodyPr>
          <a:lstStyle/>
          <a:p>
            <a:pPr>
              <a:spcAft>
                <a:spcPts val="800"/>
              </a:spcAft>
              <a:defRPr sz="1300" b="1">
                <a:solidFill>
                  <a:srgbClr val="0D9488"/>
                </a:solidFill>
              </a:defRPr>
            </a:pPr>
            <a:r>
              <a:t>1. Uji Sensitivitas Bobot</a:t>
            </a:r>
          </a:p>
          <a:p>
            <a:pPr>
              <a:spcAft>
                <a:spcPts val="600"/>
              </a:spcAft>
              <a:defRPr sz="1050">
                <a:solidFill>
                  <a:srgbClr val="0F172A"/>
                </a:solidFill>
              </a:defRPr>
            </a:pPr>
            <a:r>
              <a:t>• Saat bobot kriteria Prevalensi Stunting (C1) divariasikan ±15%, peringkat Top 3 (Brebes, Pemalang, Kebumen) tetap kokoh di posisi puncak prioritas.</a:t>
            </a:r>
          </a:p>
          <a:p>
            <a:pPr>
              <a:defRPr sz="1050">
                <a:solidFill>
                  <a:srgbClr val="475569"/>
                </a:solidFill>
              </a:defRPr>
            </a:pPr>
            <a:r>
              <a:t>• Hal ini membuktikan model memiliki kekokohan (robustness) tinggi dan tidak rapuh terhadap deviasi minor penilaian pakar.</a:t>
            </a:r>
          </a:p>
        </p:txBody>
      </p:sp>
      <p:sp>
        <p:nvSpPr>
          <p:cNvPr id="5" name="Rounded Rectangle 4"/>
          <p:cNvSpPr/>
          <p:nvPr/>
        </p:nvSpPr>
        <p:spPr>
          <a:xfrm>
            <a:off x="4416552" y="1554480"/>
            <a:ext cx="3328416"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99432" y="1737360"/>
            <a:ext cx="2962656" cy="4206240"/>
          </a:xfrm>
          <a:prstGeom prst="rect">
            <a:avLst/>
          </a:prstGeom>
          <a:noFill/>
        </p:spPr>
        <p:txBody>
          <a:bodyPr wrap="square">
            <a:spAutoFit/>
          </a:bodyPr>
          <a:lstStyle/>
          <a:p>
            <a:pPr>
              <a:spcAft>
                <a:spcPts val="800"/>
              </a:spcAft>
              <a:defRPr sz="1300" b="1">
                <a:solidFill>
                  <a:srgbClr val="06B6D4"/>
                </a:solidFill>
              </a:defRPr>
            </a:pPr>
            <a:r>
              <a:t>2. Netralitas Geometris</a:t>
            </a:r>
          </a:p>
          <a:p>
            <a:pPr>
              <a:spcAft>
                <a:spcPts val="600"/>
              </a:spcAft>
              <a:defRPr sz="1050">
                <a:solidFill>
                  <a:srgbClr val="0F172A"/>
                </a:solidFill>
              </a:defRPr>
            </a:pPr>
            <a:r>
              <a:t>• Penggunaan Jarak Euclidean dalam TOPSIS memperlakukan seluruh dimensi secara ortogonal dan proporsional.</a:t>
            </a:r>
          </a:p>
          <a:p>
            <a:pPr>
              <a:defRPr sz="1050">
                <a:solidFill>
                  <a:srgbClr val="475569"/>
                </a:solidFill>
              </a:defRPr>
            </a:pPr>
            <a:r>
              <a:t>• Tidak terjadi fenomena rank reversal yang ekstrim ketika alternatif baru diujikan dalam skala simulasi.</a:t>
            </a:r>
          </a:p>
        </p:txBody>
      </p:sp>
      <p:sp>
        <p:nvSpPr>
          <p:cNvPr id="7" name="Rounded Rectangle 6"/>
          <p:cNvSpPr/>
          <p:nvPr/>
        </p:nvSpPr>
        <p:spPr>
          <a:xfrm>
            <a:off x="8101584" y="1554480"/>
            <a:ext cx="3328416"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84464" y="1737360"/>
            <a:ext cx="2962656" cy="4206240"/>
          </a:xfrm>
          <a:prstGeom prst="rect">
            <a:avLst/>
          </a:prstGeom>
          <a:noFill/>
        </p:spPr>
        <p:txBody>
          <a:bodyPr wrap="square">
            <a:spAutoFit/>
          </a:bodyPr>
          <a:lstStyle/>
          <a:p>
            <a:pPr>
              <a:spcAft>
                <a:spcPts val="800"/>
              </a:spcAft>
              <a:defRPr sz="1300" b="1">
                <a:solidFill>
                  <a:srgbClr val="D97706"/>
                </a:solidFill>
              </a:defRPr>
            </a:pPr>
            <a:r>
              <a:t>3. Validitas Domain Medis</a:t>
            </a:r>
          </a:p>
          <a:p>
            <a:pPr>
              <a:spcAft>
                <a:spcPts val="600"/>
              </a:spcAft>
              <a:defRPr sz="1050">
                <a:solidFill>
                  <a:srgbClr val="0F172A"/>
                </a:solidFill>
              </a:defRPr>
            </a:pPr>
            <a:r>
              <a:t>• Bobot tertinggi AHP pada Prevalensi (37.46%) dan Volume Balita Stunting (24.24%) selaras dengan pedoman Kemenkes RI mengenai indikator intervensi spesifik.</a:t>
            </a:r>
          </a:p>
          <a:p>
            <a:pPr>
              <a:defRPr sz="1050">
                <a:solidFill>
                  <a:srgbClr val="475569"/>
                </a:solidFill>
              </a:defRPr>
            </a:pPr>
            <a:r>
              <a:t>• Kriteria sensitif (Sanitasi &amp; Air Bersih) menjaga agar akar penyebab lingkungan tetap terakomodasi dalam skor akhir.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PENUTUP &amp; IMPLIKASI</a:t>
            </a:r>
          </a:p>
          <a:p>
            <a:pPr>
              <a:defRPr sz="2200" b="1">
                <a:solidFill>
                  <a:srgbClr val="0F172A"/>
                </a:solidFill>
              </a:defRPr>
            </a:pPr>
            <a:r>
              <a:t>Kesimpulan &amp; Rekomendasi Kebijakan</a:t>
            </a:r>
          </a:p>
          <a:p>
            <a:pPr>
              <a:defRPr sz="1100">
                <a:solidFill>
                  <a:srgbClr val="475569"/>
                </a:solidFill>
              </a:defRPr>
            </a:pPr>
            <a:r>
              <a:t>Sintesis hasil penelitian dan kontribusi praktis bagi pembuat kebijakan</a:t>
            </a:r>
          </a:p>
        </p:txBody>
      </p:sp>
      <p:sp>
        <p:nvSpPr>
          <p:cNvPr id="3" name="Rounded Rectangle 2"/>
          <p:cNvSpPr/>
          <p:nvPr/>
        </p:nvSpPr>
        <p:spPr>
          <a:xfrm>
            <a:off x="731520" y="155448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4572000" cy="4206240"/>
          </a:xfrm>
          <a:prstGeom prst="rect">
            <a:avLst/>
          </a:prstGeom>
          <a:noFill/>
        </p:spPr>
        <p:txBody>
          <a:bodyPr wrap="square">
            <a:spAutoFit/>
          </a:bodyPr>
          <a:lstStyle/>
          <a:p>
            <a:pPr>
              <a:spcAft>
                <a:spcPts val="1200"/>
              </a:spcAft>
              <a:defRPr sz="1400" b="1">
                <a:solidFill>
                  <a:srgbClr val="0D9488"/>
                </a:solidFill>
              </a:defRPr>
            </a:pPr>
            <a:r>
              <a:t>KESIMPULAN ILMIAH</a:t>
            </a:r>
          </a:p>
          <a:p>
            <a:pPr>
              <a:spcAft>
                <a:spcPts val="1000"/>
              </a:spcAft>
              <a:defRPr sz="1100">
                <a:solidFill>
                  <a:srgbClr val="0F172A"/>
                </a:solidFill>
              </a:defRPr>
            </a:pPr>
            <a:r>
              <a:t>1. Metode Hybrid AHP-TOPSIS terbukti berhasil menyelesaikan trade-off multi-kriteria untuk perankingan 35 Kabupaten/Kota secara efisien dan konsisten (CR = 0.0106).</a:t>
            </a:r>
          </a:p>
          <a:p>
            <a:pPr>
              <a:spcAft>
                <a:spcPts val="1000"/>
              </a:spcAft>
              <a:defRPr sz="1100">
                <a:solidFill>
                  <a:srgbClr val="0F172A"/>
                </a:solidFill>
              </a:defRPr>
            </a:pPr>
            <a:r>
              <a:t>2. Algoritma TOPSIS secara akurat mengidentifikasi disparitas wilayah Jawa Tengah, dengan Kabupaten Brebes (0.9422) dan Pemalang (0.8055) sebagai wilayah paling mendesak untuk intervensi.</a:t>
            </a:r>
          </a:p>
          <a:p>
            <a:pPr>
              <a:spcAft>
                <a:spcPts val="1000"/>
              </a:spcAft>
              <a:defRPr sz="1100">
                <a:solidFill>
                  <a:srgbClr val="0F172A"/>
                </a:solidFill>
              </a:defRPr>
            </a:pPr>
            <a:r>
              <a:t>3. Sistem web yang dikembangkan berhasil mewujudkan Explainable DSS dengan transparansi matematis di seluruh tahapan matriks perhitungan.</a:t>
            </a:r>
          </a:p>
        </p:txBody>
      </p:sp>
      <p:sp>
        <p:nvSpPr>
          <p:cNvPr id="5" name="Rounded Rectangle 4"/>
          <p:cNvSpPr/>
          <p:nvPr/>
        </p:nvSpPr>
        <p:spPr>
          <a:xfrm>
            <a:off x="6217920" y="1554480"/>
            <a:ext cx="5120640" cy="457200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92240" y="1737360"/>
            <a:ext cx="4572000" cy="4206240"/>
          </a:xfrm>
          <a:prstGeom prst="rect">
            <a:avLst/>
          </a:prstGeom>
          <a:noFill/>
        </p:spPr>
        <p:txBody>
          <a:bodyPr wrap="square">
            <a:spAutoFit/>
          </a:bodyPr>
          <a:lstStyle/>
          <a:p>
            <a:pPr>
              <a:spcAft>
                <a:spcPts val="1200"/>
              </a:spcAft>
              <a:defRPr sz="1400" b="1">
                <a:solidFill>
                  <a:srgbClr val="D97706"/>
                </a:solidFill>
              </a:defRPr>
            </a:pPr>
            <a:r>
              <a:t>REKOMENDASI KEBIJAKAN &amp; PENGEMBANGAN</a:t>
            </a:r>
          </a:p>
          <a:p>
            <a:pPr>
              <a:spcAft>
                <a:spcPts val="1000"/>
              </a:spcAft>
              <a:defRPr sz="1100">
                <a:solidFill>
                  <a:srgbClr val="0F172A"/>
                </a:solidFill>
              </a:defRPr>
            </a:pPr>
            <a:r>
              <a:t>1. Bagi Bappeda &amp; Dinas Kesehatan Jateng: Rekomendasi perangkingan ini dapat dijadikan basis penentuan alokasi Bantuan Keuangan (Bankeu) penanganan kemiskinan ekstrem dan stunting.</a:t>
            </a:r>
          </a:p>
          <a:p>
            <a:pPr>
              <a:spcAft>
                <a:spcPts val="1000"/>
              </a:spcAft>
              <a:defRPr sz="1100">
                <a:solidFill>
                  <a:srgbClr val="0F172A"/>
                </a:solidFill>
              </a:defRPr>
            </a:pPr>
            <a:r>
              <a:t>2. Intervensi Konvergen: Untuk Brebes dan Pemalang, fokus utama harus diarahkan pada dropping nakes dan pembangunan jamban/sanitasi sehat di kantong kemiskinan.</a:t>
            </a:r>
          </a:p>
          <a:p>
            <a:pPr>
              <a:spcAft>
                <a:spcPts val="1000"/>
              </a:spcAft>
              <a:defRPr sz="1100">
                <a:solidFill>
                  <a:srgbClr val="0F172A"/>
                </a:solidFill>
              </a:defRPr>
            </a:pPr>
            <a:r>
              <a:t>3. Pengembangan Selanjutnya: Integrasi dengan Sistem Informasi Geografis (GIS/Peta Interaktif) dan modul prediksi runtun waktu (time-series forecasting) untuk tren tahun berikutnya.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200"/>
              </a:spcAft>
              <a:defRPr sz="1000" b="1">
                <a:solidFill>
                  <a:srgbClr val="0D9488"/>
                </a:solidFill>
              </a:defRPr>
            </a:pPr>
            <a:r>
              <a:t>PERSIAPAN UJIAN / Q&amp;A</a:t>
            </a:r>
          </a:p>
          <a:p>
            <a:pPr>
              <a:defRPr sz="2200" b="1">
                <a:solidFill>
                  <a:srgbClr val="0F172A"/>
                </a:solidFill>
              </a:defRPr>
            </a:pPr>
            <a:r>
              <a:t>Panduan Antisipasi Pertanyaan Kritis Dosen Penguji</a:t>
            </a:r>
          </a:p>
          <a:p>
            <a:pPr>
              <a:defRPr sz="1100">
                <a:solidFill>
                  <a:srgbClr val="475569"/>
                </a:solidFill>
              </a:defRPr>
            </a:pPr>
            <a:r>
              <a:t>Strategi argumentasi akademik menjawab pertanyaan khas sidang SPPK / MCDM</a:t>
            </a:r>
          </a:p>
        </p:txBody>
      </p:sp>
      <p:sp>
        <p:nvSpPr>
          <p:cNvPr id="3" name="Rounded Rectangle 2"/>
          <p:cNvSpPr/>
          <p:nvPr/>
        </p:nvSpPr>
        <p:spPr>
          <a:xfrm>
            <a:off x="731520" y="155448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664208"/>
            <a:ext cx="4754880" cy="1874520"/>
          </a:xfrm>
          <a:prstGeom prst="rect">
            <a:avLst/>
          </a:prstGeom>
          <a:noFill/>
        </p:spPr>
        <p:txBody>
          <a:bodyPr wrap="square">
            <a:spAutoFit/>
          </a:bodyPr>
          <a:lstStyle/>
          <a:p>
            <a:pPr>
              <a:spcAft>
                <a:spcPts val="400"/>
              </a:spcAft>
              <a:defRPr sz="1150" b="1">
                <a:solidFill>
                  <a:srgbClr val="0D9488"/>
                </a:solidFill>
              </a:defRPr>
            </a:pPr>
            <a:r>
              <a:t>Q1: Mengapa tidak memakai SAW atau WP?</a:t>
            </a:r>
          </a:p>
          <a:p>
            <a:pPr>
              <a:defRPr sz="950">
                <a:solidFill>
                  <a:srgbClr val="0F172A"/>
                </a:solidFill>
              </a:defRPr>
            </a:pPr>
            <a:r>
              <a:t>Jawaban: Simple Additive Weighting (SAW) dan Weighted Product (WP) mengabaikan konsep solusi ideal ganda (positif dan negatif) serta jarak euclidean. TOPSIS memiliki keunggulan geometris karena mempertimbangkan bukan hanya yang terbaik dari yang terbaik (A+), tetapi juga sejauh mungkin dari yang terburuk (A-).</a:t>
            </a:r>
          </a:p>
        </p:txBody>
      </p:sp>
      <p:sp>
        <p:nvSpPr>
          <p:cNvPr id="5" name="Rounded Rectangle 4"/>
          <p:cNvSpPr/>
          <p:nvPr/>
        </p:nvSpPr>
        <p:spPr>
          <a:xfrm>
            <a:off x="6336792" y="155448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19672" y="1664208"/>
            <a:ext cx="4754880" cy="1874520"/>
          </a:xfrm>
          <a:prstGeom prst="rect">
            <a:avLst/>
          </a:prstGeom>
          <a:noFill/>
        </p:spPr>
        <p:txBody>
          <a:bodyPr wrap="square">
            <a:spAutoFit/>
          </a:bodyPr>
          <a:lstStyle/>
          <a:p>
            <a:pPr>
              <a:spcAft>
                <a:spcPts val="400"/>
              </a:spcAft>
              <a:defRPr sz="1150" b="1">
                <a:solidFill>
                  <a:srgbClr val="06B6D4"/>
                </a:solidFill>
              </a:defRPr>
            </a:pPr>
            <a:r>
              <a:t>Q2: Bagaimana jika nilai CR dari AHP melebihi 0.10?</a:t>
            </a:r>
          </a:p>
          <a:p>
            <a:pPr>
              <a:defRPr sz="950">
                <a:solidFill>
                  <a:srgbClr val="0F172A"/>
                </a:solidFill>
              </a:defRPr>
            </a:pPr>
            <a:r>
              <a:t>Jawaban: Jika CR &gt; 0.10, sistem kami mendeteksi inkonsistensi secara otomatis. Pengguna/pakar wajib merevisi penilaian matriks perbandingannya hingga konsisten. Matriks default sistem kami memiliki CR = 0.0106 (1.06%), terbukti sangat konsisten.</a:t>
            </a:r>
          </a:p>
        </p:txBody>
      </p:sp>
      <p:sp>
        <p:nvSpPr>
          <p:cNvPr id="7" name="Rounded Rectangle 6"/>
          <p:cNvSpPr/>
          <p:nvPr/>
        </p:nvSpPr>
        <p:spPr>
          <a:xfrm>
            <a:off x="731520" y="397764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087368"/>
            <a:ext cx="4754880" cy="1874520"/>
          </a:xfrm>
          <a:prstGeom prst="rect">
            <a:avLst/>
          </a:prstGeom>
          <a:noFill/>
        </p:spPr>
        <p:txBody>
          <a:bodyPr wrap="square">
            <a:spAutoFit/>
          </a:bodyPr>
          <a:lstStyle/>
          <a:p>
            <a:pPr>
              <a:spcAft>
                <a:spcPts val="400"/>
              </a:spcAft>
              <a:defRPr sz="1150" b="1">
                <a:solidFill>
                  <a:srgbClr val="D97706"/>
                </a:solidFill>
              </a:defRPr>
            </a:pPr>
            <a:r>
              <a:t>Q3: Mengapa Sanitasi &amp; Air Bersih jadi kriteria 'Cost'?</a:t>
            </a:r>
          </a:p>
          <a:p>
            <a:pPr>
              <a:defRPr sz="950">
                <a:solidFill>
                  <a:srgbClr val="0F172A"/>
                </a:solidFill>
              </a:defRPr>
            </a:pPr>
            <a:r>
              <a:t>Jawaban: Dalam perspektif SPPK prioritas penanganan, wilayah dengan sanitasi dan air minum rendah adalah wilayah paling darurat yang menuntut intervensi segera. Karena itu nilai rendah harus menghasilkan skor preferensi penanganan yang tinggi.</a:t>
            </a:r>
          </a:p>
        </p:txBody>
      </p:sp>
      <p:sp>
        <p:nvSpPr>
          <p:cNvPr id="9" name="Rounded Rectangle 8"/>
          <p:cNvSpPr/>
          <p:nvPr/>
        </p:nvSpPr>
        <p:spPr>
          <a:xfrm>
            <a:off x="6336792" y="3977640"/>
            <a:ext cx="5120640" cy="21031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9672" y="4087368"/>
            <a:ext cx="4754880" cy="1874520"/>
          </a:xfrm>
          <a:prstGeom prst="rect">
            <a:avLst/>
          </a:prstGeom>
          <a:noFill/>
        </p:spPr>
        <p:txBody>
          <a:bodyPr wrap="square">
            <a:spAutoFit/>
          </a:bodyPr>
          <a:lstStyle/>
          <a:p>
            <a:pPr>
              <a:spcAft>
                <a:spcPts val="400"/>
              </a:spcAft>
              <a:defRPr sz="1150" b="1">
                <a:solidFill>
                  <a:srgbClr val="10B981"/>
                </a:solidFill>
              </a:defRPr>
            </a:pPr>
            <a:r>
              <a:t>Q4: Bagaimana validitas data yang digunakan?</a:t>
            </a:r>
          </a:p>
          <a:p>
            <a:pPr>
              <a:defRPr sz="950">
                <a:solidFill>
                  <a:srgbClr val="0F172A"/>
                </a:solidFill>
              </a:defRPr>
            </a:pPr>
            <a:r>
              <a:t>Jawaban: Data indikator bersumber dari agregasi data BPS Jawa Tengah dan profil kesehatan Dinkes Jateng. Sistem juga mendukung fleksibilitas impor dataset multi-tahun (Excel) sehingga jika terdapat pembaharuan data resmi (SKDN / SSGI), sistem langsung mengkalkulasi ulang secara realtime.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